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스트레이캣의 정호준입니다. 오늘은 AI 신약개발 파이프라인을 누구나 클릭 한 번으로 사용할 수 있게 만드는 플랫폼, 스트레이캣을 소개하겠습니다. 발표는 약 5분간 진행됩니다.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문제인식입니다. AlphaFold 같은 세계 최고 수준의 AI 신약 도구들이 공개되어 있지만, 중소 제약사와 연구자들은 네 가지 장벽에 막혀 실제로 사용하지 못하고 있습니다. 수천만 원의 라이선스 비용, 리눅스 환경 세팅이 필요한 높은 기술 장벽, 기밀 데이터의 클라우드 업로드 보안 이슈, 그리고 고가의 GPU 인프라 문제입니다. 이 네 가지가 동시에 해결되지 않으면 현장 도입이 불가능합니다. 약 45초.</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스트레이캣의 해결책은 세 가지 축으로 이루어집니다. 첫째, No-Code 원클릭 자동화로 코딩 없이 누구나 글로벌 AI 도구를 실행할 수 있게 합니다. 둘째, 온프레미스 망분리로 기밀 데이터를 외부에 내보내지 않고 사내에서 완전히 독립 실행합니다. 셋째, 사내에 있는 유휴 PC들을 묶어 고성능 클러스터처럼 활용해 비용을 10분의 1로 줄입니다. 이 세 가지를 동시에 충족하는 제품은 현재 시장에 존재하지 않습니다. 약 45초.</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기술 구성을 설명드리겠습니다. 파이프라인은 세 단계로 구성됩니다. 1단계에서 AlphaFold로 표적 단백질의 3D 구조를 자동 예측하고, 2단계에서 DiffDock으로 약물 후보 물질이 단백질 어디에 결합하는지 예측합니다. 3단계에서 OpenFE로 자유 에너지(FEP) 계산을 수행하는데, 이 과정을 사내 PC 여러 대에 분산 처리합니다. 이 모든 과정이 GUI 클릭 한 번으로 자동으로 이어집니다. 약 45초.</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경쟁사 대비 차별화 포인트입니다. 기존 CADD 소프트웨어는 명령어 기반으로 사용이 어렵고 가격이 매우 비쌉니다. 클라우드 SaaS는 편리하지만 데이터 보안 문제로 제약사에서 도입을 거부합니다. 스트레이캣은 No-Code 편의성, 온프레미스 보안, PC 그리드 저비용 이 세 가지를 동시에 제공합니다. 이 조합을 제공하는 제품은 현재 시장에 없습니다. 약 40초.</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시장을 설명드립니다. 글로벌 AI 신약개발 시장은 2030년까지 연 29.4%씩 성장해 41.5조 원에 달할 전망입니다. 이 중 아시아 중소 제약사와 연구소를 대상으로 하는 시장이 4.2조 원이고, 스트레이캣이 2028년까지 초기 침투할 수 있는 시장은 420억 원으로 추정합니다. B2B 기업 고객과 B2C 개인 연구자를 동시에 공략하는 투트랙 전략을 씁니다. 약 40초.</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사업화 전략은 3단계로 진행합니다. 올해 하반기에는 무료 베타를 배포해 대학 연구실과 연구자를 확보하고 레퍼런스를 만듭니다. 내년 상반기에는 B2C를 유료 구독으로 전환하고, 3개 기업을 대상으로 B2B PoC를 진행합니다. 내년 하반기부터는 PoC 실증을 바탕으로 중소 제약사와 연간 계약을 체결하고 아시아 시장으로 확장합니다. 약 40초.</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수익 모델은 세 가지입니다. 첫째, 개인 연구자 대상 SaaS 구독 모델, 둘째, 고용량 시뮬레이션이 필요할 때 GPU를 빌려쓰는 종량제, 셋째, 중견 제약사 대상 온프레미스 설치 계약입니다. 초기에는 SaaS로 사용자를 확보하고, 고단가의 Enterprise 계약으로 수익을 높이는 구조입니다. 약 35초.</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올해 말까지의 구체적 성과 목표입니다. 3월까지 AI 엔진 패키징, 6월까지 No-Code 대시보드 베타, 9월까지 Docker 원클릭 셋업 완성, 11월까지 B2C 얼리액세스를 열겠습니다. KPI는 매출 1억 원과 신규 채용 1명입니다. 약 35초.</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팀을 소개드립니다. 저 정호준은 SW 개발팀장 출신으로 5년 이상의 실무 경력을 보유하고 있습니다. AI 신약개발 전문기업에서 AlphaFold, RDKit, AutoDock을 실제 R&amp;D 파이프라인에 통합 운용한 경험이 있어 이 제품의 핵심 기술을 외주 없이 직접 개발할 수 있습니다. 올해 7월까지 단백질·펩타이드 디자인 전문 연구원 1명을 채용할 계획입니다. 약 40초.</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지원 사업비 활용 계획을 말씀드립니다. 핵심 엔진 개발은 대표자가 직접 수행하고, 사업비는 UI/UX 외주, 프론트엔드 개발, QA 테스트, 특허 출원에 집중 투자합니다. 스트레이캣은 세계 최고의 AI 신약 기술을 연구자 누구나 클릭 한 번으로 사용할 수 있게 만들겠습니다. 감사합니다. 약 40초.</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0F1E"/>
        </a:solidFill>
        <a:effectLst/>
      </p:bgPr>
    </p:bg>
    <p:spTree>
      <p:nvGrpSpPr>
        <p:cNvPr id="1" name=""/>
        <p:cNvGrpSpPr/>
        <p:nvPr/>
      </p:nvGrpSpPr>
      <p:grpSpPr/>
      <p:sp>
        <p:nvSpPr>
          <p:cNvPr id="2" name="Rectangle 1"/>
          <p:cNvSpPr/>
          <p:nvPr/>
        </p:nvSpPr>
        <p:spPr>
          <a:xfrm>
            <a:off x="0" y="0"/>
            <a:ext cx="12188952" cy="6858000"/>
          </a:xfrm>
          <a:prstGeom prst="rect">
            <a:avLst/>
          </a:prstGeom>
          <a:solidFill>
            <a:srgbClr val="05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0"/>
            <a:ext cx="12188952" cy="1828800"/>
          </a:xfrm>
          <a:prstGeom prst="rect">
            <a:avLst/>
          </a:prstGeom>
          <a:solidFill>
            <a:srgbClr val="006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058400" cy="1371600"/>
          </a:xfrm>
          <a:prstGeom prst="rect">
            <a:avLst/>
          </a:prstGeom>
          <a:noFill/>
        </p:spPr>
        <p:txBody>
          <a:bodyPr wrap="square">
            <a:spAutoFit/>
          </a:bodyPr>
          <a:lstStyle/>
          <a:p>
            <a:pPr algn="ctr"/>
            <a:r>
              <a:rPr sz="5200" b="1">
                <a:solidFill>
                  <a:srgbClr val="00C8FF"/>
                </a:solidFill>
              </a:rPr>
              <a:t>스트레이캣 (StrayCat)</a:t>
            </a:r>
          </a:p>
        </p:txBody>
      </p:sp>
      <p:sp>
        <p:nvSpPr>
          <p:cNvPr id="5" name="TextBox 4"/>
          <p:cNvSpPr txBox="1"/>
          <p:nvPr/>
        </p:nvSpPr>
        <p:spPr>
          <a:xfrm>
            <a:off x="914400" y="3017520"/>
            <a:ext cx="10058400" cy="914400"/>
          </a:xfrm>
          <a:prstGeom prst="rect">
            <a:avLst/>
          </a:prstGeom>
          <a:noFill/>
        </p:spPr>
        <p:txBody>
          <a:bodyPr wrap="square">
            <a:spAutoFit/>
          </a:bodyPr>
          <a:lstStyle/>
          <a:p>
            <a:pPr algn="ctr"/>
            <a:r>
              <a:rPr sz="2400" b="0">
                <a:solidFill>
                  <a:srgbClr val="FFFFFF"/>
                </a:solidFill>
              </a:rPr>
              <a:t>AI 신약개발 파이프라인 자동화 플랫폼</a:t>
            </a:r>
          </a:p>
        </p:txBody>
      </p:sp>
      <p:sp>
        <p:nvSpPr>
          <p:cNvPr id="6" name="Rectangle 5"/>
          <p:cNvSpPr/>
          <p:nvPr/>
        </p:nvSpPr>
        <p:spPr>
          <a:xfrm>
            <a:off x="4663440" y="4023360"/>
            <a:ext cx="2834640" cy="36576"/>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297680"/>
            <a:ext cx="10058400" cy="457200"/>
          </a:xfrm>
          <a:prstGeom prst="rect">
            <a:avLst/>
          </a:prstGeom>
          <a:noFill/>
        </p:spPr>
        <p:txBody>
          <a:bodyPr wrap="square">
            <a:spAutoFit/>
          </a:bodyPr>
          <a:lstStyle/>
          <a:p>
            <a:pPr algn="ctr"/>
            <a:r>
              <a:rPr sz="1600" b="0">
                <a:solidFill>
                  <a:srgbClr val="B0C4DE"/>
                </a:solidFill>
              </a:rPr>
              <a:t>2026 부니콘 씨드 육성사업 발표</a:t>
            </a:r>
          </a:p>
        </p:txBody>
      </p:sp>
      <p:sp>
        <p:nvSpPr>
          <p:cNvPr id="8" name="TextBox 7"/>
          <p:cNvSpPr txBox="1"/>
          <p:nvPr/>
        </p:nvSpPr>
        <p:spPr>
          <a:xfrm>
            <a:off x="914400" y="4663440"/>
            <a:ext cx="10058400" cy="457200"/>
          </a:xfrm>
          <a:prstGeom prst="rect">
            <a:avLst/>
          </a:prstGeom>
          <a:noFill/>
        </p:spPr>
        <p:txBody>
          <a:bodyPr wrap="square">
            <a:spAutoFit/>
          </a:bodyPr>
          <a:lstStyle/>
          <a:p>
            <a:pPr algn="ctr"/>
            <a:r>
              <a:rPr sz="1600" b="0">
                <a:solidFill>
                  <a:srgbClr val="B0C4DE"/>
                </a:solidFill>
              </a:rPr>
              <a:t>대표자: 정호준</a:t>
            </a:r>
          </a:p>
        </p:txBody>
      </p:sp>
      <p:sp>
        <p:nvSpPr>
          <p:cNvPr id="9" name="TextBox 8"/>
          <p:cNvSpPr txBox="1"/>
          <p:nvPr/>
        </p:nvSpPr>
        <p:spPr>
          <a:xfrm>
            <a:off x="914400" y="5029200"/>
            <a:ext cx="10058400" cy="457200"/>
          </a:xfrm>
          <a:prstGeom prst="rect">
            <a:avLst/>
          </a:prstGeom>
          <a:noFill/>
        </p:spPr>
        <p:txBody>
          <a:bodyPr wrap="square">
            <a:spAutoFit/>
          </a:bodyPr>
          <a:lstStyle/>
          <a:p>
            <a:pPr algn="ctr"/>
            <a:r>
              <a:rPr sz="1600" b="0">
                <a:solidFill>
                  <a:srgbClr val="B0C4DE"/>
                </a:solidFill>
              </a:rPr>
              <a:t>2026년 3월</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064240" y="0"/>
            <a:ext cx="1124712" cy="59436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64240" y="45720"/>
            <a:ext cx="1124712" cy="502920"/>
          </a:xfrm>
          <a:prstGeom prst="rect">
            <a:avLst/>
          </a:prstGeom>
          <a:noFill/>
        </p:spPr>
        <p:txBody>
          <a:bodyPr wrap="square">
            <a:spAutoFit/>
          </a:bodyPr>
          <a:lstStyle/>
          <a:p>
            <a:pPr algn="ctr"/>
            <a:r>
              <a:rPr sz="1300" b="1">
                <a:solidFill>
                  <a:srgbClr val="0D1B2A"/>
                </a:solidFill>
              </a:rPr>
              <a:t>01 / 10</a:t>
            </a:r>
          </a:p>
        </p:txBody>
      </p:sp>
      <p:sp>
        <p:nvSpPr>
          <p:cNvPr id="5" name="TextBox 4"/>
          <p:cNvSpPr txBox="1"/>
          <p:nvPr/>
        </p:nvSpPr>
        <p:spPr>
          <a:xfrm>
            <a:off x="365760" y="182880"/>
            <a:ext cx="10515600" cy="685800"/>
          </a:xfrm>
          <a:prstGeom prst="rect">
            <a:avLst/>
          </a:prstGeom>
          <a:noFill/>
        </p:spPr>
        <p:txBody>
          <a:bodyPr wrap="square">
            <a:spAutoFit/>
          </a:bodyPr>
          <a:lstStyle/>
          <a:p>
            <a:pPr algn="l"/>
            <a:r>
              <a:rPr sz="3400" b="1">
                <a:solidFill>
                  <a:srgbClr val="00C8FF"/>
                </a:solidFill>
              </a:rPr>
              <a:t>01. 문제인식</a:t>
            </a:r>
          </a:p>
        </p:txBody>
      </p:sp>
      <p:sp>
        <p:nvSpPr>
          <p:cNvPr id="6" name="Rectangle 5"/>
          <p:cNvSpPr/>
          <p:nvPr/>
        </p:nvSpPr>
        <p:spPr>
          <a:xfrm>
            <a:off x="365760" y="914400"/>
            <a:ext cx="11430000" cy="36576"/>
          </a:xfrm>
          <a:prstGeom prst="rect">
            <a:avLst/>
          </a:prstGeom>
          <a:solidFill>
            <a:srgbClr val="008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05840"/>
            <a:ext cx="11430000" cy="457200"/>
          </a:xfrm>
          <a:prstGeom prst="rect">
            <a:avLst/>
          </a:prstGeom>
          <a:noFill/>
        </p:spPr>
        <p:txBody>
          <a:bodyPr wrap="square">
            <a:spAutoFit/>
          </a:bodyPr>
          <a:lstStyle/>
          <a:p>
            <a:pPr algn="l"/>
            <a:r>
              <a:rPr sz="1800" b="0">
                <a:solidFill>
                  <a:srgbClr val="B0C4DE"/>
                </a:solidFill>
              </a:rPr>
              <a:t>중소 제약사는 왜 AI 신약 기술을 못 쓰는가?</a:t>
            </a:r>
          </a:p>
        </p:txBody>
      </p:sp>
      <p:sp>
        <p:nvSpPr>
          <p:cNvPr id="8" name="TextBox 7"/>
          <p:cNvSpPr txBox="1"/>
          <p:nvPr/>
        </p:nvSpPr>
        <p:spPr>
          <a:xfrm>
            <a:off x="457200" y="1600200"/>
            <a:ext cx="11247120" cy="4846320"/>
          </a:xfrm>
          <a:prstGeom prst="rect">
            <a:avLst/>
          </a:prstGeom>
          <a:noFill/>
        </p:spPr>
        <p:txBody>
          <a:bodyPr wrap="square">
            <a:spAutoFit/>
          </a:bodyPr>
          <a:lstStyle/>
          <a:p>
            <a:pPr algn="l"/>
            <a:r>
              <a:rPr sz="1600" b="1">
                <a:solidFill>
                  <a:srgbClr val="FFFFFF"/>
                </a:solidFill>
              </a:rPr>
              <a:t>❶ 살인적 라이선스 — 해외 CADD SW 수천만 원 → 중소 예산 확보 불가</a:t>
            </a:r>
          </a:p>
          <a:p>
            <a:pPr algn="l"/>
            <a:r>
              <a:rPr sz="1600" b="1">
                <a:solidFill>
                  <a:srgbClr val="FFFFFF"/>
                </a:solidFill>
              </a:rPr>
              <a:t>❷ IT 전문인력 부재 — 리눅스·GPU 세팅을 연구원이 병행 불가</a:t>
            </a:r>
          </a:p>
          <a:p>
            <a:pPr algn="l"/>
            <a:r>
              <a:rPr sz="1600" b="1">
                <a:solidFill>
                  <a:srgbClr val="FFFFFF"/>
                </a:solidFill>
              </a:rPr>
              <a:t>❸ 보안·데이터 유출 — SaaS 클라우드 업로드 → 제약사 도입 거부</a:t>
            </a:r>
          </a:p>
          <a:p>
            <a:pPr algn="l"/>
            <a:r>
              <a:rPr sz="1600" b="1">
                <a:solidFill>
                  <a:srgbClr val="FFFFFF"/>
                </a:solidFill>
              </a:rPr>
              <a:t>❹ 고가 GPU 독점 — H100 대당 수천만 원 → 중소기관 확보 불가</a:t>
            </a:r>
          </a:p>
          <a:p>
            <a:pPr algn="l"/>
            <a:r>
              <a:rPr sz="1000">
                <a:solidFill>
                  <a:srgbClr val="008BBD"/>
                </a:solidFill>
              </a:rPr>
              <a:t/>
            </a:r>
          </a:p>
          <a:p>
            <a:pPr algn="l"/>
            <a:r>
              <a:rPr sz="1600" b="1">
                <a:solidFill>
                  <a:srgbClr val="FFFFFF"/>
                </a:solidFill>
              </a:rPr>
              <a:t>→ 세계 최고의 AI가 공개되어도 현장에서 쓸 수 없다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064240" y="0"/>
            <a:ext cx="1124712" cy="59436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64240" y="45720"/>
            <a:ext cx="1124712" cy="502920"/>
          </a:xfrm>
          <a:prstGeom prst="rect">
            <a:avLst/>
          </a:prstGeom>
          <a:noFill/>
        </p:spPr>
        <p:txBody>
          <a:bodyPr wrap="square">
            <a:spAutoFit/>
          </a:bodyPr>
          <a:lstStyle/>
          <a:p>
            <a:pPr algn="ctr"/>
            <a:r>
              <a:rPr sz="1300" b="1">
                <a:solidFill>
                  <a:srgbClr val="0D1B2A"/>
                </a:solidFill>
              </a:rPr>
              <a:t>02 / 10</a:t>
            </a:r>
          </a:p>
        </p:txBody>
      </p:sp>
      <p:sp>
        <p:nvSpPr>
          <p:cNvPr id="5" name="TextBox 4"/>
          <p:cNvSpPr txBox="1"/>
          <p:nvPr/>
        </p:nvSpPr>
        <p:spPr>
          <a:xfrm>
            <a:off x="365760" y="182880"/>
            <a:ext cx="10515600" cy="685800"/>
          </a:xfrm>
          <a:prstGeom prst="rect">
            <a:avLst/>
          </a:prstGeom>
          <a:noFill/>
        </p:spPr>
        <p:txBody>
          <a:bodyPr wrap="square">
            <a:spAutoFit/>
          </a:bodyPr>
          <a:lstStyle/>
          <a:p>
            <a:pPr algn="l"/>
            <a:r>
              <a:rPr sz="3400" b="1">
                <a:solidFill>
                  <a:srgbClr val="00C8FF"/>
                </a:solidFill>
              </a:rPr>
              <a:t>02. 솔루션</a:t>
            </a:r>
          </a:p>
        </p:txBody>
      </p:sp>
      <p:sp>
        <p:nvSpPr>
          <p:cNvPr id="6" name="Rectangle 5"/>
          <p:cNvSpPr/>
          <p:nvPr/>
        </p:nvSpPr>
        <p:spPr>
          <a:xfrm>
            <a:off x="365760" y="914400"/>
            <a:ext cx="11430000" cy="36576"/>
          </a:xfrm>
          <a:prstGeom prst="rect">
            <a:avLst/>
          </a:prstGeom>
          <a:solidFill>
            <a:srgbClr val="008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05840"/>
            <a:ext cx="11430000" cy="457200"/>
          </a:xfrm>
          <a:prstGeom prst="rect">
            <a:avLst/>
          </a:prstGeom>
          <a:noFill/>
        </p:spPr>
        <p:txBody>
          <a:bodyPr wrap="square">
            <a:spAutoFit/>
          </a:bodyPr>
          <a:lstStyle/>
          <a:p>
            <a:pPr algn="l"/>
            <a:r>
              <a:rPr sz="1800" b="0">
                <a:solidFill>
                  <a:srgbClr val="B0C4DE"/>
                </a:solidFill>
              </a:rPr>
              <a:t>3축 동시 해결 — 자동화 × 보안 × 비용</a:t>
            </a:r>
          </a:p>
        </p:txBody>
      </p:sp>
      <p:sp>
        <p:nvSpPr>
          <p:cNvPr id="8" name="TextBox 7"/>
          <p:cNvSpPr txBox="1"/>
          <p:nvPr/>
        </p:nvSpPr>
        <p:spPr>
          <a:xfrm>
            <a:off x="457200" y="1600200"/>
            <a:ext cx="11247120" cy="4846320"/>
          </a:xfrm>
          <a:prstGeom prst="rect">
            <a:avLst/>
          </a:prstGeom>
          <a:noFill/>
        </p:spPr>
        <p:txBody>
          <a:bodyPr wrap="square">
            <a:spAutoFit/>
          </a:bodyPr>
          <a:lstStyle/>
          <a:p>
            <a:pPr algn="l"/>
            <a:r>
              <a:rPr sz="1600" b="1">
                <a:solidFill>
                  <a:srgbClr val="FFFFFF"/>
                </a:solidFill>
              </a:rPr>
              <a:t>① 원클릭 자동화 (No-Code)</a:t>
            </a:r>
          </a:p>
          <a:p>
            <a:pPr algn="l"/>
            <a:r>
              <a:rPr sz="1500">
                <a:solidFill>
                  <a:srgbClr val="B0C4DE"/>
                </a:solidFill>
              </a:rPr>
              <a:t>   AlphaFold·DiffDock·RFdiffusion 등 글로벌 AI를 GUI 클릭만으로 실행</a:t>
            </a:r>
          </a:p>
          <a:p>
            <a:pPr algn="l"/>
            <a:r>
              <a:rPr sz="1600" b="1">
                <a:solidFill>
                  <a:srgbClr val="FFFFFF"/>
                </a:solidFill>
              </a:rPr>
              <a:t>② 온프레미스 망분리</a:t>
            </a:r>
          </a:p>
          <a:p>
            <a:pPr algn="l"/>
            <a:r>
              <a:rPr sz="1500">
                <a:solidFill>
                  <a:srgbClr val="B0C4DE"/>
                </a:solidFill>
              </a:rPr>
              <a:t>   사내 폐쇄망 독립 설치 → 기밀 데이터 유출 제로</a:t>
            </a:r>
          </a:p>
          <a:p>
            <a:pPr algn="l"/>
            <a:r>
              <a:rPr sz="1600" b="1">
                <a:solidFill>
                  <a:srgbClr val="FFFFFF"/>
                </a:solidFill>
              </a:rPr>
              <a:t>③ 사내 PC 그리드 연산</a:t>
            </a:r>
          </a:p>
          <a:p>
            <a:pPr algn="l"/>
            <a:r>
              <a:rPr sz="1500">
                <a:solidFill>
                  <a:srgbClr val="B0C4DE"/>
                </a:solidFill>
              </a:rPr>
              <a:t>   유휴 PC 자원 병렬 통합 → 클라우드 GPU 대비 비용 1/10 절감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064240" y="0"/>
            <a:ext cx="1124712" cy="59436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64240" y="45720"/>
            <a:ext cx="1124712" cy="502920"/>
          </a:xfrm>
          <a:prstGeom prst="rect">
            <a:avLst/>
          </a:prstGeom>
          <a:noFill/>
        </p:spPr>
        <p:txBody>
          <a:bodyPr wrap="square">
            <a:spAutoFit/>
          </a:bodyPr>
          <a:lstStyle/>
          <a:p>
            <a:pPr algn="ctr"/>
            <a:r>
              <a:rPr sz="1300" b="1">
                <a:solidFill>
                  <a:srgbClr val="0D1B2A"/>
                </a:solidFill>
              </a:rPr>
              <a:t>03 / 10</a:t>
            </a:r>
          </a:p>
        </p:txBody>
      </p:sp>
      <p:sp>
        <p:nvSpPr>
          <p:cNvPr id="5" name="TextBox 4"/>
          <p:cNvSpPr txBox="1"/>
          <p:nvPr/>
        </p:nvSpPr>
        <p:spPr>
          <a:xfrm>
            <a:off x="365760" y="182880"/>
            <a:ext cx="10515600" cy="685800"/>
          </a:xfrm>
          <a:prstGeom prst="rect">
            <a:avLst/>
          </a:prstGeom>
          <a:noFill/>
        </p:spPr>
        <p:txBody>
          <a:bodyPr wrap="square">
            <a:spAutoFit/>
          </a:bodyPr>
          <a:lstStyle/>
          <a:p>
            <a:pPr algn="l"/>
            <a:r>
              <a:rPr sz="3400" b="1">
                <a:solidFill>
                  <a:srgbClr val="00C8FF"/>
                </a:solidFill>
              </a:rPr>
              <a:t>03. 기술 구성</a:t>
            </a:r>
          </a:p>
        </p:txBody>
      </p:sp>
      <p:sp>
        <p:nvSpPr>
          <p:cNvPr id="6" name="Rectangle 5"/>
          <p:cNvSpPr/>
          <p:nvPr/>
        </p:nvSpPr>
        <p:spPr>
          <a:xfrm>
            <a:off x="365760" y="914400"/>
            <a:ext cx="11430000" cy="36576"/>
          </a:xfrm>
          <a:prstGeom prst="rect">
            <a:avLst/>
          </a:prstGeom>
          <a:solidFill>
            <a:srgbClr val="008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05840"/>
            <a:ext cx="11430000" cy="457200"/>
          </a:xfrm>
          <a:prstGeom prst="rect">
            <a:avLst/>
          </a:prstGeom>
          <a:noFill/>
        </p:spPr>
        <p:txBody>
          <a:bodyPr wrap="square">
            <a:spAutoFit/>
          </a:bodyPr>
          <a:lstStyle/>
          <a:p>
            <a:pPr algn="l"/>
            <a:r>
              <a:rPr sz="1800" b="0">
                <a:solidFill>
                  <a:srgbClr val="B0C4DE"/>
                </a:solidFill>
              </a:rPr>
              <a:t>글로벌 오픈소스 AI 엔진 래핑 · 자동화 파이프라인</a:t>
            </a:r>
          </a:p>
        </p:txBody>
      </p:sp>
      <p:sp>
        <p:nvSpPr>
          <p:cNvPr id="8" name="TextBox 7"/>
          <p:cNvSpPr txBox="1"/>
          <p:nvPr/>
        </p:nvSpPr>
        <p:spPr>
          <a:xfrm>
            <a:off x="457200" y="1600200"/>
            <a:ext cx="11247120" cy="4846320"/>
          </a:xfrm>
          <a:prstGeom prst="rect">
            <a:avLst/>
          </a:prstGeom>
          <a:noFill/>
        </p:spPr>
        <p:txBody>
          <a:bodyPr wrap="square">
            <a:spAutoFit/>
          </a:bodyPr>
          <a:lstStyle/>
          <a:p>
            <a:pPr algn="l"/>
            <a:r>
              <a:rPr sz="1600" b="1">
                <a:solidFill>
                  <a:srgbClr val="FFFFFF"/>
                </a:solidFill>
              </a:rPr>
              <a:t>STEP 1 | AlphaFold (DeepMind)</a:t>
            </a:r>
          </a:p>
          <a:p>
            <a:pPr algn="l"/>
            <a:r>
              <a:rPr sz="1500">
                <a:solidFill>
                  <a:srgbClr val="B0C4DE"/>
                </a:solidFill>
              </a:rPr>
              <a:t>   단백질 3D 구조 자동 예측 → PDB 생성</a:t>
            </a:r>
          </a:p>
          <a:p>
            <a:pPr algn="l"/>
            <a:r>
              <a:rPr sz="1600" b="1">
                <a:solidFill>
                  <a:srgbClr val="FFFFFF"/>
                </a:solidFill>
              </a:rPr>
              <a:t>STEP 2 | DiffDock (MIT CSAIL)</a:t>
            </a:r>
          </a:p>
          <a:p>
            <a:pPr algn="l"/>
            <a:r>
              <a:rPr sz="1500">
                <a:solidFill>
                  <a:srgbClr val="B0C4DE"/>
                </a:solidFill>
              </a:rPr>
              <a:t>   약물 후보 도킹 예측 → 배치 처리 큐</a:t>
            </a:r>
          </a:p>
          <a:p>
            <a:pPr algn="l"/>
            <a:r>
              <a:rPr sz="1600" b="1">
                <a:solidFill>
                  <a:srgbClr val="FFFFFF"/>
                </a:solidFill>
              </a:rPr>
              <a:t>STEP 3 | OpenFE / OpenMM (Stanford)</a:t>
            </a:r>
          </a:p>
          <a:p>
            <a:pPr algn="l"/>
            <a:r>
              <a:rPr sz="1500">
                <a:solidFill>
                  <a:srgbClr val="B0C4DE"/>
                </a:solidFill>
              </a:rPr>
              <a:t>   자유 에너지(FEP) 계산 → 분산 병렬 연산</a:t>
            </a:r>
          </a:p>
          <a:p>
            <a:pPr algn="l"/>
            <a:r>
              <a:rPr sz="1600">
                <a:solidFill>
                  <a:srgbClr val="FFFFFF"/>
                </a:solidFill>
              </a:rPr>
              <a:t>공통 | RDKit — 14종 분자 파일 자동 변환·필터링</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064240" y="0"/>
            <a:ext cx="1124712" cy="59436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64240" y="45720"/>
            <a:ext cx="1124712" cy="502920"/>
          </a:xfrm>
          <a:prstGeom prst="rect">
            <a:avLst/>
          </a:prstGeom>
          <a:noFill/>
        </p:spPr>
        <p:txBody>
          <a:bodyPr wrap="square">
            <a:spAutoFit/>
          </a:bodyPr>
          <a:lstStyle/>
          <a:p>
            <a:pPr algn="ctr"/>
            <a:r>
              <a:rPr sz="1300" b="1">
                <a:solidFill>
                  <a:srgbClr val="0D1B2A"/>
                </a:solidFill>
              </a:rPr>
              <a:t>04 / 10</a:t>
            </a:r>
          </a:p>
        </p:txBody>
      </p:sp>
      <p:sp>
        <p:nvSpPr>
          <p:cNvPr id="5" name="TextBox 4"/>
          <p:cNvSpPr txBox="1"/>
          <p:nvPr/>
        </p:nvSpPr>
        <p:spPr>
          <a:xfrm>
            <a:off x="365760" y="182880"/>
            <a:ext cx="10515600" cy="685800"/>
          </a:xfrm>
          <a:prstGeom prst="rect">
            <a:avLst/>
          </a:prstGeom>
          <a:noFill/>
        </p:spPr>
        <p:txBody>
          <a:bodyPr wrap="square">
            <a:spAutoFit/>
          </a:bodyPr>
          <a:lstStyle/>
          <a:p>
            <a:pPr algn="l"/>
            <a:r>
              <a:rPr sz="3400" b="1">
                <a:solidFill>
                  <a:srgbClr val="00C8FF"/>
                </a:solidFill>
              </a:rPr>
              <a:t>04. 차별화</a:t>
            </a:r>
          </a:p>
        </p:txBody>
      </p:sp>
      <p:sp>
        <p:nvSpPr>
          <p:cNvPr id="6" name="Rectangle 5"/>
          <p:cNvSpPr/>
          <p:nvPr/>
        </p:nvSpPr>
        <p:spPr>
          <a:xfrm>
            <a:off x="365760" y="914400"/>
            <a:ext cx="11430000" cy="36576"/>
          </a:xfrm>
          <a:prstGeom prst="rect">
            <a:avLst/>
          </a:prstGeom>
          <a:solidFill>
            <a:srgbClr val="008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05840"/>
            <a:ext cx="11430000" cy="457200"/>
          </a:xfrm>
          <a:prstGeom prst="rect">
            <a:avLst/>
          </a:prstGeom>
          <a:noFill/>
        </p:spPr>
        <p:txBody>
          <a:bodyPr wrap="square">
            <a:spAutoFit/>
          </a:bodyPr>
          <a:lstStyle/>
          <a:p>
            <a:pPr algn="l"/>
            <a:r>
              <a:rPr sz="1800" b="0">
                <a:solidFill>
                  <a:srgbClr val="B0C4DE"/>
                </a:solidFill>
              </a:rPr>
              <a:t>경쟁사가 점유하지 못한 공백 시장 선점</a:t>
            </a:r>
          </a:p>
        </p:txBody>
      </p:sp>
      <p:sp>
        <p:nvSpPr>
          <p:cNvPr id="8" name="TextBox 7"/>
          <p:cNvSpPr txBox="1"/>
          <p:nvPr/>
        </p:nvSpPr>
        <p:spPr>
          <a:xfrm>
            <a:off x="457200" y="1600200"/>
            <a:ext cx="11247120" cy="4846320"/>
          </a:xfrm>
          <a:prstGeom prst="rect">
            <a:avLst/>
          </a:prstGeom>
          <a:noFill/>
        </p:spPr>
        <p:txBody>
          <a:bodyPr wrap="square">
            <a:spAutoFit/>
          </a:bodyPr>
          <a:lstStyle/>
          <a:p>
            <a:pPr algn="l"/>
            <a:r>
              <a:rPr sz="1600" b="1">
                <a:solidFill>
                  <a:srgbClr val="00C8FF"/>
                </a:solidFill>
              </a:rPr>
              <a:t>구분              기존 CADD SW       클라우드 SaaS       스트레이캣</a:t>
            </a:r>
          </a:p>
          <a:p>
            <a:pPr algn="l"/>
            <a:r>
              <a:rPr sz="1000">
                <a:solidFill>
                  <a:srgbClr val="008BBD"/>
                </a:solidFill>
              </a:rPr>
              <a:t>─────────────────────────────────────────────────────</a:t>
            </a:r>
          </a:p>
          <a:p>
            <a:pPr algn="l"/>
            <a:r>
              <a:rPr sz="1600">
                <a:solidFill>
                  <a:srgbClr val="FFFFFF"/>
                </a:solidFill>
              </a:rPr>
              <a:t>사용성            CLI 복잡            블랙박스            No-Code GUI ✓</a:t>
            </a:r>
          </a:p>
          <a:p>
            <a:pPr algn="l"/>
            <a:r>
              <a:rPr sz="1600">
                <a:solidFill>
                  <a:srgbClr val="FFFFFF"/>
                </a:solidFill>
              </a:rPr>
              <a:t>보안              온프레미스 가능      클라우드 필수        망분리 온프레미스 ✓</a:t>
            </a:r>
          </a:p>
          <a:p>
            <a:pPr algn="l"/>
            <a:r>
              <a:rPr sz="1600">
                <a:solidFill>
                  <a:srgbClr val="FFFFFF"/>
                </a:solidFill>
              </a:rPr>
              <a:t>비용              고비용 라이선스      종량제              PC 그리드 1/10 ✓</a:t>
            </a:r>
          </a:p>
          <a:p>
            <a:pPr algn="l"/>
            <a:r>
              <a:rPr sz="1000">
                <a:solidFill>
                  <a:srgbClr val="008BBD"/>
                </a:solidFill>
              </a:rPr>
              <a:t/>
            </a:r>
          </a:p>
          <a:p>
            <a:pPr algn="l"/>
            <a:r>
              <a:rPr sz="1600" b="1">
                <a:solidFill>
                  <a:srgbClr val="FFFFFF"/>
                </a:solidFill>
              </a:rPr>
              <a:t>→ 보안 × 편의 × 가격 3축 동시 충족 제품은 현재 없음</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064240" y="0"/>
            <a:ext cx="1124712" cy="59436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64240" y="45720"/>
            <a:ext cx="1124712" cy="502920"/>
          </a:xfrm>
          <a:prstGeom prst="rect">
            <a:avLst/>
          </a:prstGeom>
          <a:noFill/>
        </p:spPr>
        <p:txBody>
          <a:bodyPr wrap="square">
            <a:spAutoFit/>
          </a:bodyPr>
          <a:lstStyle/>
          <a:p>
            <a:pPr algn="ctr"/>
            <a:r>
              <a:rPr sz="1300" b="1">
                <a:solidFill>
                  <a:srgbClr val="0D1B2A"/>
                </a:solidFill>
              </a:rPr>
              <a:t>05 / 10</a:t>
            </a:r>
          </a:p>
        </p:txBody>
      </p:sp>
      <p:sp>
        <p:nvSpPr>
          <p:cNvPr id="5" name="TextBox 4"/>
          <p:cNvSpPr txBox="1"/>
          <p:nvPr/>
        </p:nvSpPr>
        <p:spPr>
          <a:xfrm>
            <a:off x="365760" y="182880"/>
            <a:ext cx="10515600" cy="685800"/>
          </a:xfrm>
          <a:prstGeom prst="rect">
            <a:avLst/>
          </a:prstGeom>
          <a:noFill/>
        </p:spPr>
        <p:txBody>
          <a:bodyPr wrap="square">
            <a:spAutoFit/>
          </a:bodyPr>
          <a:lstStyle/>
          <a:p>
            <a:pPr algn="l"/>
            <a:r>
              <a:rPr sz="3400" b="1">
                <a:solidFill>
                  <a:srgbClr val="00C8FF"/>
                </a:solidFill>
              </a:rPr>
              <a:t>05. 목표시장</a:t>
            </a:r>
          </a:p>
        </p:txBody>
      </p:sp>
      <p:sp>
        <p:nvSpPr>
          <p:cNvPr id="6" name="Rectangle 5"/>
          <p:cNvSpPr/>
          <p:nvPr/>
        </p:nvSpPr>
        <p:spPr>
          <a:xfrm>
            <a:off x="365760" y="914400"/>
            <a:ext cx="11430000" cy="36576"/>
          </a:xfrm>
          <a:prstGeom prst="rect">
            <a:avLst/>
          </a:prstGeom>
          <a:solidFill>
            <a:srgbClr val="008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05840"/>
            <a:ext cx="11430000" cy="457200"/>
          </a:xfrm>
          <a:prstGeom prst="rect">
            <a:avLst/>
          </a:prstGeom>
          <a:noFill/>
        </p:spPr>
        <p:txBody>
          <a:bodyPr wrap="square">
            <a:spAutoFit/>
          </a:bodyPr>
          <a:lstStyle/>
          <a:p>
            <a:pPr algn="l"/>
            <a:r>
              <a:rPr sz="1800" b="0">
                <a:solidFill>
                  <a:srgbClr val="B0C4DE"/>
                </a:solidFill>
              </a:rPr>
              <a:t>TAM 41.5조 → SAM 4.2조 → SOM 420억</a:t>
            </a:r>
          </a:p>
        </p:txBody>
      </p:sp>
      <p:sp>
        <p:nvSpPr>
          <p:cNvPr id="8" name="TextBox 7"/>
          <p:cNvSpPr txBox="1"/>
          <p:nvPr/>
        </p:nvSpPr>
        <p:spPr>
          <a:xfrm>
            <a:off x="457200" y="1600200"/>
            <a:ext cx="11247120" cy="4846320"/>
          </a:xfrm>
          <a:prstGeom prst="rect">
            <a:avLst/>
          </a:prstGeom>
          <a:noFill/>
        </p:spPr>
        <p:txBody>
          <a:bodyPr wrap="square">
            <a:spAutoFit/>
          </a:bodyPr>
          <a:lstStyle/>
          <a:p>
            <a:pPr algn="l"/>
            <a:r>
              <a:rPr sz="1600" b="1">
                <a:solidFill>
                  <a:srgbClr val="FFFFFF"/>
                </a:solidFill>
              </a:rPr>
              <a:t>TAM  41.5조 원   글로벌 AI 신약개발 시장 (2030, CAGR 29.4%)</a:t>
            </a:r>
          </a:p>
          <a:p>
            <a:pPr algn="l"/>
            <a:r>
              <a:rPr sz="1600" b="1">
                <a:solidFill>
                  <a:srgbClr val="FFFFFF"/>
                </a:solidFill>
              </a:rPr>
              <a:t>SAM   4.2조 원   아시아 중소 제약사·연구소 대상</a:t>
            </a:r>
          </a:p>
          <a:p>
            <a:pPr algn="l"/>
            <a:r>
              <a:rPr sz="1600" b="1">
                <a:solidFill>
                  <a:srgbClr val="FFFFFF"/>
                </a:solidFill>
              </a:rPr>
              <a:t>SOM    420억 원   국내 온프레미스+SaaS 초기 침투 목표 (2028)</a:t>
            </a:r>
          </a:p>
          <a:p>
            <a:pPr algn="l"/>
            <a:r>
              <a:rPr sz="1000">
                <a:solidFill>
                  <a:srgbClr val="008BBD"/>
                </a:solidFill>
              </a:rPr>
              <a:t/>
            </a:r>
          </a:p>
          <a:p>
            <a:pPr algn="l"/>
            <a:r>
              <a:rPr sz="1600" b="1">
                <a:solidFill>
                  <a:srgbClr val="00C8FF"/>
                </a:solidFill>
              </a:rPr>
              <a:t>핵심 타겟</a:t>
            </a:r>
          </a:p>
          <a:p>
            <a:pPr algn="l"/>
            <a:r>
              <a:rPr sz="1500">
                <a:solidFill>
                  <a:srgbClr val="B0C4DE"/>
                </a:solidFill>
              </a:rPr>
              <a:t>  B2B — 국내외 중소·중견 제약사, 국공립 바이오 연구실</a:t>
            </a:r>
          </a:p>
          <a:p>
            <a:pPr algn="l"/>
            <a:r>
              <a:rPr sz="1500">
                <a:solidFill>
                  <a:srgbClr val="B0C4DE"/>
                </a:solidFill>
              </a:rPr>
              <a:t>  B2C — 대학원생·포닥·개인 연구자 (브라우저 즉시 실행)</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064240" y="0"/>
            <a:ext cx="1124712" cy="59436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64240" y="45720"/>
            <a:ext cx="1124712" cy="502920"/>
          </a:xfrm>
          <a:prstGeom prst="rect">
            <a:avLst/>
          </a:prstGeom>
          <a:noFill/>
        </p:spPr>
        <p:txBody>
          <a:bodyPr wrap="square">
            <a:spAutoFit/>
          </a:bodyPr>
          <a:lstStyle/>
          <a:p>
            <a:pPr algn="ctr"/>
            <a:r>
              <a:rPr sz="1300" b="1">
                <a:solidFill>
                  <a:srgbClr val="0D1B2A"/>
                </a:solidFill>
              </a:rPr>
              <a:t>06 / 10</a:t>
            </a:r>
          </a:p>
        </p:txBody>
      </p:sp>
      <p:sp>
        <p:nvSpPr>
          <p:cNvPr id="5" name="TextBox 4"/>
          <p:cNvSpPr txBox="1"/>
          <p:nvPr/>
        </p:nvSpPr>
        <p:spPr>
          <a:xfrm>
            <a:off x="365760" y="182880"/>
            <a:ext cx="10515600" cy="685800"/>
          </a:xfrm>
          <a:prstGeom prst="rect">
            <a:avLst/>
          </a:prstGeom>
          <a:noFill/>
        </p:spPr>
        <p:txBody>
          <a:bodyPr wrap="square">
            <a:spAutoFit/>
          </a:bodyPr>
          <a:lstStyle/>
          <a:p>
            <a:pPr algn="l"/>
            <a:r>
              <a:rPr sz="3400" b="1">
                <a:solidFill>
                  <a:srgbClr val="00C8FF"/>
                </a:solidFill>
              </a:rPr>
              <a:t>06. 사업화 전략</a:t>
            </a:r>
          </a:p>
        </p:txBody>
      </p:sp>
      <p:sp>
        <p:nvSpPr>
          <p:cNvPr id="6" name="Rectangle 5"/>
          <p:cNvSpPr/>
          <p:nvPr/>
        </p:nvSpPr>
        <p:spPr>
          <a:xfrm>
            <a:off x="365760" y="914400"/>
            <a:ext cx="11430000" cy="36576"/>
          </a:xfrm>
          <a:prstGeom prst="rect">
            <a:avLst/>
          </a:prstGeom>
          <a:solidFill>
            <a:srgbClr val="008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05840"/>
            <a:ext cx="11430000" cy="457200"/>
          </a:xfrm>
          <a:prstGeom prst="rect">
            <a:avLst/>
          </a:prstGeom>
          <a:noFill/>
        </p:spPr>
        <p:txBody>
          <a:bodyPr wrap="square">
            <a:spAutoFit/>
          </a:bodyPr>
          <a:lstStyle/>
          <a:p>
            <a:pPr algn="l"/>
            <a:r>
              <a:rPr sz="1800" b="0">
                <a:solidFill>
                  <a:srgbClr val="B0C4DE"/>
                </a:solidFill>
              </a:rPr>
              <a:t>3단계 로드맵 — 락인 → 유료화 → 확장</a:t>
            </a:r>
          </a:p>
        </p:txBody>
      </p:sp>
      <p:sp>
        <p:nvSpPr>
          <p:cNvPr id="8" name="TextBox 7"/>
          <p:cNvSpPr txBox="1"/>
          <p:nvPr/>
        </p:nvSpPr>
        <p:spPr>
          <a:xfrm>
            <a:off x="457200" y="1600200"/>
            <a:ext cx="11247120" cy="4846320"/>
          </a:xfrm>
          <a:prstGeom prst="rect">
            <a:avLst/>
          </a:prstGeom>
          <a:noFill/>
        </p:spPr>
        <p:txBody>
          <a:bodyPr wrap="square">
            <a:spAutoFit/>
          </a:bodyPr>
          <a:lstStyle/>
          <a:p>
            <a:pPr algn="l"/>
            <a:r>
              <a:rPr sz="1600">
                <a:solidFill>
                  <a:srgbClr val="FFFFFF"/>
                </a:solidFill>
              </a:rPr>
              <a:t>1단계 ('26 하반기)  무료 베타 → 레퍼런스 확보</a:t>
            </a:r>
          </a:p>
          <a:p>
            <a:pPr algn="l"/>
            <a:r>
              <a:rPr sz="1500">
                <a:solidFill>
                  <a:srgbClr val="B0C4DE"/>
                </a:solidFill>
              </a:rPr>
              <a:t>  B2C SaaS 무료 배포 → 약대·바이오 연구실 5곳+ 도입</a:t>
            </a:r>
          </a:p>
          <a:p>
            <a:pPr algn="l"/>
            <a:r>
              <a:rPr sz="1600">
                <a:solidFill>
                  <a:srgbClr val="FFFFFF"/>
                </a:solidFill>
              </a:rPr>
              <a:t>2단계 ('27 상반기)  SaaS 유료화 + B2B PoC</a:t>
            </a:r>
          </a:p>
          <a:p>
            <a:pPr algn="l"/>
            <a:r>
              <a:rPr sz="1500">
                <a:solidFill>
                  <a:srgbClr val="B0C4DE"/>
                </a:solidFill>
              </a:rPr>
              <a:t>  B2C 월 구독 전환 + B2B 온프레미스 PoC 파일럿 3사</a:t>
            </a:r>
          </a:p>
          <a:p>
            <a:pPr algn="l"/>
            <a:r>
              <a:rPr sz="1600">
                <a:solidFill>
                  <a:srgbClr val="FFFFFF"/>
                </a:solidFill>
              </a:rPr>
              <a:t>3단계 ('27 하반기~)  B2B 본계약 + 아시아 확장</a:t>
            </a:r>
          </a:p>
          <a:p>
            <a:pPr algn="l"/>
            <a:r>
              <a:rPr sz="1500">
                <a:solidFill>
                  <a:srgbClr val="B0C4DE"/>
                </a:solidFill>
              </a:rPr>
              <a:t>  중소 제약사 연간 계약 (1,500~2,000만 원/건)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064240" y="0"/>
            <a:ext cx="1124712" cy="59436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64240" y="45720"/>
            <a:ext cx="1124712" cy="502920"/>
          </a:xfrm>
          <a:prstGeom prst="rect">
            <a:avLst/>
          </a:prstGeom>
          <a:noFill/>
        </p:spPr>
        <p:txBody>
          <a:bodyPr wrap="square">
            <a:spAutoFit/>
          </a:bodyPr>
          <a:lstStyle/>
          <a:p>
            <a:pPr algn="ctr"/>
            <a:r>
              <a:rPr sz="1300" b="1">
                <a:solidFill>
                  <a:srgbClr val="0D1B2A"/>
                </a:solidFill>
              </a:rPr>
              <a:t>07 / 10</a:t>
            </a:r>
          </a:p>
        </p:txBody>
      </p:sp>
      <p:sp>
        <p:nvSpPr>
          <p:cNvPr id="5" name="TextBox 4"/>
          <p:cNvSpPr txBox="1"/>
          <p:nvPr/>
        </p:nvSpPr>
        <p:spPr>
          <a:xfrm>
            <a:off x="365760" y="182880"/>
            <a:ext cx="10515600" cy="685800"/>
          </a:xfrm>
          <a:prstGeom prst="rect">
            <a:avLst/>
          </a:prstGeom>
          <a:noFill/>
        </p:spPr>
        <p:txBody>
          <a:bodyPr wrap="square">
            <a:spAutoFit/>
          </a:bodyPr>
          <a:lstStyle/>
          <a:p>
            <a:pPr algn="l"/>
            <a:r>
              <a:rPr sz="3400" b="1">
                <a:solidFill>
                  <a:srgbClr val="00C8FF"/>
                </a:solidFill>
              </a:rPr>
              <a:t>07. 수익 모델</a:t>
            </a:r>
          </a:p>
        </p:txBody>
      </p:sp>
      <p:sp>
        <p:nvSpPr>
          <p:cNvPr id="6" name="Rectangle 5"/>
          <p:cNvSpPr/>
          <p:nvPr/>
        </p:nvSpPr>
        <p:spPr>
          <a:xfrm>
            <a:off x="365760" y="914400"/>
            <a:ext cx="11430000" cy="36576"/>
          </a:xfrm>
          <a:prstGeom prst="rect">
            <a:avLst/>
          </a:prstGeom>
          <a:solidFill>
            <a:srgbClr val="008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05840"/>
            <a:ext cx="11430000" cy="457200"/>
          </a:xfrm>
          <a:prstGeom prst="rect">
            <a:avLst/>
          </a:prstGeom>
          <a:noFill/>
        </p:spPr>
        <p:txBody>
          <a:bodyPr wrap="square">
            <a:spAutoFit/>
          </a:bodyPr>
          <a:lstStyle/>
          <a:p>
            <a:pPr algn="l"/>
            <a:r>
              <a:rPr sz="1800" b="0">
                <a:solidFill>
                  <a:srgbClr val="B0C4DE"/>
                </a:solidFill>
              </a:rPr>
              <a:t>3대 수익원 — SaaS × 종량제 × Enterprise</a:t>
            </a:r>
          </a:p>
        </p:txBody>
      </p:sp>
      <p:sp>
        <p:nvSpPr>
          <p:cNvPr id="8" name="TextBox 7"/>
          <p:cNvSpPr txBox="1"/>
          <p:nvPr/>
        </p:nvSpPr>
        <p:spPr>
          <a:xfrm>
            <a:off x="457200" y="1600200"/>
            <a:ext cx="11247120" cy="4846320"/>
          </a:xfrm>
          <a:prstGeom prst="rect">
            <a:avLst/>
          </a:prstGeom>
          <a:noFill/>
        </p:spPr>
        <p:txBody>
          <a:bodyPr wrap="square">
            <a:spAutoFit/>
          </a:bodyPr>
          <a:lstStyle/>
          <a:p>
            <a:pPr algn="l"/>
            <a:r>
              <a:rPr sz="1600" b="1">
                <a:solidFill>
                  <a:srgbClr val="FFFFFF"/>
                </a:solidFill>
              </a:rPr>
              <a:t>① B2C SaaS 구독</a:t>
            </a:r>
          </a:p>
          <a:p>
            <a:pPr algn="l"/>
            <a:r>
              <a:rPr sz="1500">
                <a:solidFill>
                  <a:srgbClr val="B0C4DE"/>
                </a:solidFill>
              </a:rPr>
              <a:t>   개인 연구자·대학원생 · 월/연 구독 · 브라우저 즉시 실행</a:t>
            </a:r>
          </a:p>
          <a:p>
            <a:pPr algn="l"/>
            <a:r>
              <a:rPr sz="1600" b="1">
                <a:solidFill>
                  <a:srgbClr val="FFFFFF"/>
                </a:solidFill>
              </a:rPr>
              <a:t>② Core GPU 온디맨드 (종량제)</a:t>
            </a:r>
          </a:p>
          <a:p>
            <a:pPr algn="l"/>
            <a:r>
              <a:rPr sz="1500">
                <a:solidFill>
                  <a:srgbClr val="B0C4DE"/>
                </a:solidFill>
              </a:rPr>
              <a:t>   고용량 시뮬레이션 · H100 GPU 스팟 대여 · Pay-As-You-Go</a:t>
            </a:r>
          </a:p>
          <a:p>
            <a:pPr algn="l"/>
            <a:r>
              <a:rPr sz="1600" b="1">
                <a:solidFill>
                  <a:srgbClr val="FFFFFF"/>
                </a:solidFill>
              </a:rPr>
              <a:t>③ B2B Enterprise 온프레미스</a:t>
            </a:r>
          </a:p>
          <a:p>
            <a:pPr algn="l"/>
            <a:r>
              <a:rPr sz="1500">
                <a:solidFill>
                  <a:srgbClr val="B0C4DE"/>
                </a:solidFill>
              </a:rPr>
              <a:t>   중견 제약사 · 초기 설치 1,500~2,000만 원/건</a:t>
            </a:r>
          </a:p>
          <a:p>
            <a:pPr algn="l"/>
            <a:r>
              <a:rPr sz="1500">
                <a:solidFill>
                  <a:srgbClr val="B0C4DE"/>
                </a:solidFill>
              </a:rPr>
              <a:t>   + 글로벌 AI 모델 정기 업데이트 라이선스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064240" y="0"/>
            <a:ext cx="1124712" cy="59436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64240" y="45720"/>
            <a:ext cx="1124712" cy="502920"/>
          </a:xfrm>
          <a:prstGeom prst="rect">
            <a:avLst/>
          </a:prstGeom>
          <a:noFill/>
        </p:spPr>
        <p:txBody>
          <a:bodyPr wrap="square">
            <a:spAutoFit/>
          </a:bodyPr>
          <a:lstStyle/>
          <a:p>
            <a:pPr algn="ctr"/>
            <a:r>
              <a:rPr sz="1300" b="1">
                <a:solidFill>
                  <a:srgbClr val="0D1B2A"/>
                </a:solidFill>
              </a:rPr>
              <a:t>08 / 10</a:t>
            </a:r>
          </a:p>
        </p:txBody>
      </p:sp>
      <p:sp>
        <p:nvSpPr>
          <p:cNvPr id="5" name="TextBox 4"/>
          <p:cNvSpPr txBox="1"/>
          <p:nvPr/>
        </p:nvSpPr>
        <p:spPr>
          <a:xfrm>
            <a:off x="365760" y="182880"/>
            <a:ext cx="10515600" cy="685800"/>
          </a:xfrm>
          <a:prstGeom prst="rect">
            <a:avLst/>
          </a:prstGeom>
          <a:noFill/>
        </p:spPr>
        <p:txBody>
          <a:bodyPr wrap="square">
            <a:spAutoFit/>
          </a:bodyPr>
          <a:lstStyle/>
          <a:p>
            <a:pPr algn="l"/>
            <a:r>
              <a:rPr sz="3400" b="1">
                <a:solidFill>
                  <a:srgbClr val="00C8FF"/>
                </a:solidFill>
              </a:rPr>
              <a:t>08. 성과 목표</a:t>
            </a:r>
          </a:p>
        </p:txBody>
      </p:sp>
      <p:sp>
        <p:nvSpPr>
          <p:cNvPr id="6" name="Rectangle 5"/>
          <p:cNvSpPr/>
          <p:nvPr/>
        </p:nvSpPr>
        <p:spPr>
          <a:xfrm>
            <a:off x="365760" y="914400"/>
            <a:ext cx="11430000" cy="36576"/>
          </a:xfrm>
          <a:prstGeom prst="rect">
            <a:avLst/>
          </a:prstGeom>
          <a:solidFill>
            <a:srgbClr val="008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05840"/>
            <a:ext cx="11430000" cy="457200"/>
          </a:xfrm>
          <a:prstGeom prst="rect">
            <a:avLst/>
          </a:prstGeom>
          <a:noFill/>
        </p:spPr>
        <p:txBody>
          <a:bodyPr wrap="square">
            <a:spAutoFit/>
          </a:bodyPr>
          <a:lstStyle/>
          <a:p>
            <a:pPr algn="l"/>
            <a:r>
              <a:rPr sz="1800" b="0">
                <a:solidFill>
                  <a:srgbClr val="B0C4DE"/>
                </a:solidFill>
              </a:rPr>
              <a:t>2026년 11월 30일까지</a:t>
            </a:r>
          </a:p>
        </p:txBody>
      </p:sp>
      <p:sp>
        <p:nvSpPr>
          <p:cNvPr id="8" name="TextBox 7"/>
          <p:cNvSpPr txBox="1"/>
          <p:nvPr/>
        </p:nvSpPr>
        <p:spPr>
          <a:xfrm>
            <a:off x="457200" y="1600200"/>
            <a:ext cx="11247120" cy="4846320"/>
          </a:xfrm>
          <a:prstGeom prst="rect">
            <a:avLst/>
          </a:prstGeom>
          <a:noFill/>
        </p:spPr>
        <p:txBody>
          <a:bodyPr wrap="square">
            <a:spAutoFit/>
          </a:bodyPr>
          <a:lstStyle/>
          <a:p>
            <a:pPr algn="l"/>
            <a:r>
              <a:rPr sz="1600" b="1">
                <a:solidFill>
                  <a:srgbClr val="00C8FF"/>
                </a:solidFill>
              </a:rPr>
              <a:t>제품 마일스톤</a:t>
            </a:r>
          </a:p>
          <a:p>
            <a:pPr algn="l"/>
            <a:r>
              <a:rPr sz="1500">
                <a:solidFill>
                  <a:srgbClr val="B0C4DE"/>
                </a:solidFill>
              </a:rPr>
              <a:t>  '26.03  3종 AI 엔진 오프라인 패키징 완료</a:t>
            </a:r>
          </a:p>
          <a:p>
            <a:pPr algn="l"/>
            <a:r>
              <a:rPr sz="1500">
                <a:solidFill>
                  <a:srgbClr val="B0C4DE"/>
                </a:solidFill>
              </a:rPr>
              <a:t>  '26.06  No-Code 웹 대시보드 (React) 베타 배포</a:t>
            </a:r>
          </a:p>
          <a:p>
            <a:pPr algn="l"/>
            <a:r>
              <a:rPr sz="1500">
                <a:solidFill>
                  <a:srgbClr val="B0C4DE"/>
                </a:solidFill>
              </a:rPr>
              <a:t>  '26.09  Docker 원클릭 자동 셋업 완성</a:t>
            </a:r>
          </a:p>
          <a:p>
            <a:pPr algn="l"/>
            <a:r>
              <a:rPr sz="1500">
                <a:solidFill>
                  <a:srgbClr val="B0C4DE"/>
                </a:solidFill>
              </a:rPr>
              <a:t>  '26.11  B2C SaaS 얼리액세스 오픈</a:t>
            </a:r>
          </a:p>
          <a:p>
            <a:pPr algn="l"/>
            <a:r>
              <a:rPr sz="1000">
                <a:solidFill>
                  <a:srgbClr val="008BBD"/>
                </a:solidFill>
              </a:rPr>
              <a:t/>
            </a:r>
          </a:p>
          <a:p>
            <a:pPr algn="l"/>
            <a:r>
              <a:rPr sz="1600" b="1">
                <a:solidFill>
                  <a:srgbClr val="00C8FF"/>
                </a:solidFill>
              </a:rPr>
              <a:t>KPI</a:t>
            </a:r>
          </a:p>
          <a:p>
            <a:pPr algn="l"/>
            <a:r>
              <a:rPr sz="1500">
                <a:solidFill>
                  <a:srgbClr val="B0C4DE"/>
                </a:solidFill>
              </a:rPr>
              <a:t>  매출 목표 1억 원 · 신규 고용 1명 (펩타이드 연구원)</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064240" y="0"/>
            <a:ext cx="1124712" cy="59436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64240" y="45720"/>
            <a:ext cx="1124712" cy="502920"/>
          </a:xfrm>
          <a:prstGeom prst="rect">
            <a:avLst/>
          </a:prstGeom>
          <a:noFill/>
        </p:spPr>
        <p:txBody>
          <a:bodyPr wrap="square">
            <a:spAutoFit/>
          </a:bodyPr>
          <a:lstStyle/>
          <a:p>
            <a:pPr algn="ctr"/>
            <a:r>
              <a:rPr sz="1300" b="1">
                <a:solidFill>
                  <a:srgbClr val="0D1B2A"/>
                </a:solidFill>
              </a:rPr>
              <a:t>09 / 10</a:t>
            </a:r>
          </a:p>
        </p:txBody>
      </p:sp>
      <p:sp>
        <p:nvSpPr>
          <p:cNvPr id="5" name="TextBox 4"/>
          <p:cNvSpPr txBox="1"/>
          <p:nvPr/>
        </p:nvSpPr>
        <p:spPr>
          <a:xfrm>
            <a:off x="365760" y="182880"/>
            <a:ext cx="10515600" cy="685800"/>
          </a:xfrm>
          <a:prstGeom prst="rect">
            <a:avLst/>
          </a:prstGeom>
          <a:noFill/>
        </p:spPr>
        <p:txBody>
          <a:bodyPr wrap="square">
            <a:spAutoFit/>
          </a:bodyPr>
          <a:lstStyle/>
          <a:p>
            <a:pPr algn="l"/>
            <a:r>
              <a:rPr sz="3400" b="1">
                <a:solidFill>
                  <a:srgbClr val="00C8FF"/>
                </a:solidFill>
              </a:rPr>
              <a:t>09. 팀 &amp; 대표자 역량</a:t>
            </a:r>
          </a:p>
        </p:txBody>
      </p:sp>
      <p:sp>
        <p:nvSpPr>
          <p:cNvPr id="6" name="Rectangle 5"/>
          <p:cNvSpPr/>
          <p:nvPr/>
        </p:nvSpPr>
        <p:spPr>
          <a:xfrm>
            <a:off x="365760" y="914400"/>
            <a:ext cx="11430000" cy="36576"/>
          </a:xfrm>
          <a:prstGeom prst="rect">
            <a:avLst/>
          </a:prstGeom>
          <a:solidFill>
            <a:srgbClr val="008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05840"/>
            <a:ext cx="11430000" cy="457200"/>
          </a:xfrm>
          <a:prstGeom prst="rect">
            <a:avLst/>
          </a:prstGeom>
          <a:noFill/>
        </p:spPr>
        <p:txBody>
          <a:bodyPr wrap="square">
            <a:spAutoFit/>
          </a:bodyPr>
          <a:lstStyle/>
          <a:p>
            <a:pPr algn="l"/>
            <a:r>
              <a:rPr sz="1800" b="0">
                <a:solidFill>
                  <a:srgbClr val="B0C4DE"/>
                </a:solidFill>
              </a:rPr>
              <a:t>핵심 기술을 직접 보유한 창업자</a:t>
            </a:r>
          </a:p>
        </p:txBody>
      </p:sp>
      <p:sp>
        <p:nvSpPr>
          <p:cNvPr id="8" name="TextBox 7"/>
          <p:cNvSpPr txBox="1"/>
          <p:nvPr/>
        </p:nvSpPr>
        <p:spPr>
          <a:xfrm>
            <a:off x="457200" y="1600200"/>
            <a:ext cx="11247120" cy="4846320"/>
          </a:xfrm>
          <a:prstGeom prst="rect">
            <a:avLst/>
          </a:prstGeom>
          <a:noFill/>
        </p:spPr>
        <p:txBody>
          <a:bodyPr wrap="square">
            <a:spAutoFit/>
          </a:bodyPr>
          <a:lstStyle/>
          <a:p>
            <a:pPr algn="l"/>
            <a:r>
              <a:rPr sz="1600">
                <a:solidFill>
                  <a:srgbClr val="FFFFFF"/>
                </a:solidFill>
              </a:rPr>
              <a:t>정호준 (대표)</a:t>
            </a:r>
          </a:p>
          <a:p>
            <a:pPr algn="l"/>
            <a:r>
              <a:rPr sz="1500">
                <a:solidFill>
                  <a:srgbClr val="B0C4DE"/>
                </a:solidFill>
              </a:rPr>
              <a:t>  · SW 개발·유지보수 실무 경력 5년+, 개발팀장 출신</a:t>
            </a:r>
          </a:p>
          <a:p>
            <a:pPr algn="l"/>
            <a:r>
              <a:rPr sz="1500">
                <a:solidFill>
                  <a:srgbClr val="B0C4DE"/>
                </a:solidFill>
              </a:rPr>
              <a:t>  · AI 신약개발 전문기업에서 AlphaFold·RDKit·AutoDock</a:t>
            </a:r>
          </a:p>
          <a:p>
            <a:pPr algn="l"/>
            <a:r>
              <a:rPr sz="1500">
                <a:solidFill>
                  <a:srgbClr val="B0C4DE"/>
                </a:solidFill>
              </a:rPr>
              <a:t>    실제 R&amp;D 파이프라인 통합·운용 경험</a:t>
            </a:r>
          </a:p>
          <a:p>
            <a:pPr algn="l"/>
            <a:r>
              <a:rPr sz="1500">
                <a:solidFill>
                  <a:srgbClr val="B0C4DE"/>
                </a:solidFill>
              </a:rPr>
              <a:t>  · Auto-Setup Engine · Pipeline · Grid Orchestrator 직접 설계</a:t>
            </a:r>
          </a:p>
          <a:p>
            <a:pPr algn="l"/>
            <a:r>
              <a:rPr sz="1500">
                <a:solidFill>
                  <a:srgbClr val="B0C4DE"/>
                </a:solidFill>
              </a:rPr>
              <a:t>  · 기업 대상 시스템 구조 강의 경력 → B2B 기술 컨설팅 가능</a:t>
            </a:r>
          </a:p>
          <a:p>
            <a:pPr algn="l"/>
            <a:r>
              <a:rPr sz="1000">
                <a:solidFill>
                  <a:srgbClr val="008BBD"/>
                </a:solidFill>
              </a:rPr>
              <a:t/>
            </a:r>
          </a:p>
          <a:p>
            <a:pPr algn="l"/>
            <a:r>
              <a:rPr sz="1600" b="1">
                <a:solidFill>
                  <a:srgbClr val="00C8FF"/>
                </a:solidFill>
              </a:rPr>
              <a:t>채용 계획  '26.07까지 단백질·펩타이드 디자인 연구원 1명</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064240" y="0"/>
            <a:ext cx="1124712" cy="59436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64240" y="45720"/>
            <a:ext cx="1124712" cy="502920"/>
          </a:xfrm>
          <a:prstGeom prst="rect">
            <a:avLst/>
          </a:prstGeom>
          <a:noFill/>
        </p:spPr>
        <p:txBody>
          <a:bodyPr wrap="square">
            <a:spAutoFit/>
          </a:bodyPr>
          <a:lstStyle/>
          <a:p>
            <a:pPr algn="ctr"/>
            <a:r>
              <a:rPr sz="1300" b="1">
                <a:solidFill>
                  <a:srgbClr val="0D1B2A"/>
                </a:solidFill>
              </a:rPr>
              <a:t>10 / 10</a:t>
            </a:r>
          </a:p>
        </p:txBody>
      </p:sp>
      <p:sp>
        <p:nvSpPr>
          <p:cNvPr id="5" name="TextBox 4"/>
          <p:cNvSpPr txBox="1"/>
          <p:nvPr/>
        </p:nvSpPr>
        <p:spPr>
          <a:xfrm>
            <a:off x="365760" y="182880"/>
            <a:ext cx="10515600" cy="685800"/>
          </a:xfrm>
          <a:prstGeom prst="rect">
            <a:avLst/>
          </a:prstGeom>
          <a:noFill/>
        </p:spPr>
        <p:txBody>
          <a:bodyPr wrap="square">
            <a:spAutoFit/>
          </a:bodyPr>
          <a:lstStyle/>
          <a:p>
            <a:pPr algn="l"/>
            <a:r>
              <a:rPr sz="3400" b="1">
                <a:solidFill>
                  <a:srgbClr val="00C8FF"/>
                </a:solidFill>
              </a:rPr>
              <a:t>10. 투자 요청 &amp; 마무리</a:t>
            </a:r>
          </a:p>
        </p:txBody>
      </p:sp>
      <p:sp>
        <p:nvSpPr>
          <p:cNvPr id="6" name="Rectangle 5"/>
          <p:cNvSpPr/>
          <p:nvPr/>
        </p:nvSpPr>
        <p:spPr>
          <a:xfrm>
            <a:off x="365760" y="914400"/>
            <a:ext cx="11430000" cy="36576"/>
          </a:xfrm>
          <a:prstGeom prst="rect">
            <a:avLst/>
          </a:prstGeom>
          <a:solidFill>
            <a:srgbClr val="008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05840"/>
            <a:ext cx="11430000" cy="457200"/>
          </a:xfrm>
          <a:prstGeom prst="rect">
            <a:avLst/>
          </a:prstGeom>
          <a:noFill/>
        </p:spPr>
        <p:txBody>
          <a:bodyPr wrap="square">
            <a:spAutoFit/>
          </a:bodyPr>
          <a:lstStyle/>
          <a:p>
            <a:pPr algn="l"/>
            <a:r>
              <a:rPr sz="1800" b="0">
                <a:solidFill>
                  <a:srgbClr val="B0C4DE"/>
                </a:solidFill>
              </a:rPr>
              <a:t>AI 신약 기술의 민주화 — 스트레이캣</a:t>
            </a:r>
          </a:p>
        </p:txBody>
      </p:sp>
      <p:sp>
        <p:nvSpPr>
          <p:cNvPr id="8" name="TextBox 7"/>
          <p:cNvSpPr txBox="1"/>
          <p:nvPr/>
        </p:nvSpPr>
        <p:spPr>
          <a:xfrm>
            <a:off x="457200" y="1600200"/>
            <a:ext cx="11247120" cy="4846320"/>
          </a:xfrm>
          <a:prstGeom prst="rect">
            <a:avLst/>
          </a:prstGeom>
          <a:noFill/>
        </p:spPr>
        <p:txBody>
          <a:bodyPr wrap="square">
            <a:spAutoFit/>
          </a:bodyPr>
          <a:lstStyle/>
          <a:p>
            <a:pPr algn="l"/>
            <a:r>
              <a:rPr sz="1600" b="1">
                <a:solidFill>
                  <a:srgbClr val="00C8FF"/>
                </a:solidFill>
              </a:rPr>
              <a:t>지원 사업비 활용 계획</a:t>
            </a:r>
          </a:p>
          <a:p>
            <a:pPr algn="l"/>
            <a:r>
              <a:rPr sz="1500">
                <a:solidFill>
                  <a:srgbClr val="B0C4DE"/>
                </a:solidFill>
              </a:rPr>
              <a:t>  특허 출원 (AI 파이프라인 자동화)         350만 원</a:t>
            </a:r>
          </a:p>
          <a:p>
            <a:pPr algn="l"/>
            <a:r>
              <a:rPr sz="1500">
                <a:solidFill>
                  <a:srgbClr val="B0C4DE"/>
                </a:solidFill>
              </a:rPr>
              <a:t>  No-Code 대시보드 UI/UX 외주             450만 원</a:t>
            </a:r>
          </a:p>
          <a:p>
            <a:pPr algn="l"/>
            <a:r>
              <a:rPr sz="1500">
                <a:solidFill>
                  <a:srgbClr val="B0C4DE"/>
                </a:solidFill>
              </a:rPr>
              <a:t>  웹 프론트엔드 개발 (React)              650만 원</a:t>
            </a:r>
          </a:p>
          <a:p>
            <a:pPr algn="l"/>
            <a:r>
              <a:rPr sz="1500">
                <a:solidFill>
                  <a:srgbClr val="B0C4DE"/>
                </a:solidFill>
              </a:rPr>
              <a:t>  반응형 QA + 사용성 테스트               250만 원</a:t>
            </a:r>
          </a:p>
          <a:p>
            <a:pPr algn="l"/>
            <a:r>
              <a:rPr sz="1500">
                <a:solidFill>
                  <a:srgbClr val="B0C4DE"/>
                </a:solidFill>
              </a:rPr>
              <a:t>  홈페이지·홍보 영상·마케팅               200만 원</a:t>
            </a:r>
          </a:p>
          <a:p>
            <a:pPr algn="l"/>
            <a:r>
              <a:rPr sz="1000">
                <a:solidFill>
                  <a:srgbClr val="008BBD"/>
                </a:solidFill>
              </a:rPr>
              <a:t/>
            </a:r>
          </a:p>
          <a:p>
            <a:pPr algn="l"/>
            <a:r>
              <a:rPr sz="1600" b="1">
                <a:solidFill>
                  <a:srgbClr val="FFFFFF"/>
                </a:solidFill>
              </a:rPr>
              <a:t>"글로벌 AI를 누구나 클릭 한 번으로"</a:t>
            </a:r>
          </a:p>
          <a:p>
            <a:pPr algn="l"/>
            <a:r>
              <a:rPr sz="1600">
                <a:solidFill>
                  <a:srgbClr val="FFFFFF"/>
                </a:solidFill>
              </a:rPr>
              <a:t>스트레이캣이 만들겠습니다.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