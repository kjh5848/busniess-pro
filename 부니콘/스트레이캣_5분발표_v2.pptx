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스트레이캣의 정호준입니다. AI 신약개발 파이프라인을 누구나 클릭 한 번으로 사용할 수 있게 만드는 플랫폼, 스트레이캣을 소개하겠습니다. 발표는 약 5분간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번째, 문제인식입니다. AlphaFold 같은 세계 최고 수준의 AI 신약 도구들이 공개되어 있지만, 중소 제약사와 연구자들은 네 가지 장벽에 막혀 실제로 사용하지 못하고 있습니다. 수천만 원의 라이선스 비용, 높은 기술 장벽, 데이터 보안 이슈, 고가 GPU 문제입니다. 약 45초.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스트레이캣의 해결책은 세 가지 축입니다. No-Code 원클릭 자동화, 온프레미스 망분리, 사내 PC 그리드 연산. 이 세 가지를 동시에 충족하는 제품은 현재 시장에 없습니다. 약 45초.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기술 구성입니다. 3단계 파이프라인으로 AlphaFold→DiffDock→OpenFE 순으로 자동 연결됩니다. 이 모든 과정이 GUI 클릭 한 번으로 이어집니다. 약 45초.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경쟁사 대비 차별화입니다. 기존 CADD SW는 비싸고 어렵고, 클라우드 SaaS는 보안 문제가 있습니다. 스트레이캣은 이 두 제품의 단점을 모두 해결합니다. 약 40초.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목표 시장입니다. 글로벌 AI 신약개발 시장은 2030년 41.5조 원 규모로 성장할 전망입니다. B2B 기업과 B2C 개인 연구자를 동시에 공략하는 투트랙 전략을 씁니다. 약 40초.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사업화 3단계 전략입니다. 26년 하반기 무료 베타로 락인, 27년 상반기 유료화와 B2B PoC, 27년 하반기부터 본계약과 아시아 확장입니다. 약 40초.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수익 모델은 세 가지입니다. B2C SaaS 구독, GPU 종량제, B2B Enterprise 온프레미스 계약입니다. 초기 SaaS로 사용자를 확보하고 고단가 Enterprise로 수익을 높입니다. 약 35초.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올해 말까지 성과 목표입니다. 3월 엔진 패키징, 6월 대시보드 베타, 9월 원클릭 셋업, 11월 얼리액세스 오픈. KPI는 매출 1억과 신규 채용 1명입니다. 약 35초.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대표자 정호준은 AI 신약개발 전문기업에서 AlphaFold, RDKit, AutoDock을 실제 R&amp;D 파이프라인에 통합한 경험이 있어 핵심 기술을 외주 없이 직접 개발합니다. 약 40초.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사업비 활용 계획입니다. 핵심 엔진 개발은 대표자가 직접 수행하고, 사업비는 UI 외주, 프론트엔드, QA, 특허에 집중합니다. 스트레이캣은 세계 최고의 AI 신약 기술을 연구자 누구나 클릭 한 번으로 사용할 수 있게 만들겠습니다. 감사합니다. 약 40초.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54864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1097280"/>
            <a:ext cx="1645920" cy="1645920"/>
          </a:xfrm>
          <a:prstGeom prst="ellipse">
            <a:avLst/>
          </a:prstGeom>
          <a:solidFill>
            <a:srgbClr val="00C8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789920" y="3200400"/>
            <a:ext cx="2286000" cy="2286000"/>
          </a:xfrm>
          <a:prstGeom prst="ellipse">
            <a:avLst/>
          </a:prstGeom>
          <a:solidFill>
            <a:srgbClr val="7B2FFF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0" y="5029200"/>
            <a:ext cx="1097280" cy="1097280"/>
          </a:xfrm>
          <a:prstGeom prst="ellipse">
            <a:avLst/>
          </a:prstGeom>
          <a:solidFill>
            <a:srgbClr val="008BBD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8FF"/>
                </a:solidFill>
              </a:rPr>
              <a:t>StrayCat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</a:rPr>
              <a:t>스트레이캣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834640"/>
            <a:ext cx="36576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AI 신약개발 파이프라인 자동화 플랫폼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029200"/>
            <a:ext cx="2103120" cy="1188720"/>
          </a:xfrm>
          <a:prstGeom prst="rect">
            <a:avLst/>
          </a:prstGeom>
          <a:solidFill>
            <a:srgbClr val="122A44"/>
          </a:solidFill>
          <a:ln w="19050">
            <a:solidFill>
              <a:srgbClr val="008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발표자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정호준 대표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5029200"/>
            <a:ext cx="2103120" cy="1188720"/>
          </a:xfrm>
          <a:prstGeom prst="rect">
            <a:avLst/>
          </a:prstGeom>
          <a:solidFill>
            <a:srgbClr val="122A44"/>
          </a:solidFill>
          <a:ln w="19050">
            <a:solidFill>
              <a:srgbClr val="008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사업명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2026 부니콘 씨드 육성사업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5029200"/>
            <a:ext cx="2103120" cy="1188720"/>
          </a:xfrm>
          <a:prstGeom prst="rect">
            <a:avLst/>
          </a:prstGeom>
          <a:solidFill>
            <a:srgbClr val="122A44"/>
          </a:solidFill>
          <a:ln w="19050">
            <a:solidFill>
              <a:srgbClr val="008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4068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394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2026년 3월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01. 문제인식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중소 제약사는 왜 AI 신약 기술을 못 쓰는가?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743200" cy="32918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C8FF"/>
                </a:solidFill>
              </a:rPr>
              <a:t>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살인적 라이선스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해외 CADD SW 수천만 원
→중소 예산 확보 불가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417320"/>
            <a:ext cx="2743200" cy="329184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82696" y="1417320"/>
            <a:ext cx="27432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7B2FFF"/>
                </a:solidFill>
              </a:rPr>
              <a:t>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9856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IT 전문인력 부재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25603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리눅스·GPU 세팅
→연구원이 병행 불가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1417320"/>
            <a:ext cx="2743200" cy="3291840"/>
          </a:xfrm>
          <a:prstGeom prst="rect">
            <a:avLst/>
          </a:prstGeom>
          <a:solidFill>
            <a:srgbClr val="0A1F35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5352" y="1417320"/>
            <a:ext cx="274320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8C00"/>
                </a:solidFill>
              </a:rPr>
              <a:t>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보안·유출 위험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5603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SaaS 클라우드 업로드
→제약사 도입 거부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08008" y="1417320"/>
            <a:ext cx="2743200" cy="32918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08008" y="1417320"/>
            <a:ext cx="274320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5168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E5A0"/>
                </a:solidFill>
              </a:rPr>
              <a:t>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0574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고가 GPU 독점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5168" y="2560320"/>
            <a:ext cx="2468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H100 대당 수천만 원
→중소기관 확보 불가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37760"/>
            <a:ext cx="11521440" cy="137160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663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C8FF"/>
                </a:solidFill>
              </a:rPr>
              <a:t>→  세계 최고의 AI가 공개되어도 현장에서 쓸 수 없다  — 거대한 미충족 수요 존재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02. 솔루션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3축 동시 해결 — 자동화 × 보안 × 비용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577840" cy="5120640"/>
          </a:xfrm>
          <a:prstGeom prst="rect">
            <a:avLst/>
          </a:prstGeom>
          <a:solidFill>
            <a:srgbClr val="0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4DE"/>
                </a:solidFill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463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해결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20240"/>
            <a:ext cx="55778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2286000" cy="1005840"/>
          </a:xfrm>
          <a:prstGeom prst="rect">
            <a:avLst/>
          </a:prstGeom>
          <a:solidFill>
            <a:srgbClr val="1A0A2A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2402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CLI 복잡, 전문인력 필요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377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03120"/>
            <a:ext cx="2468880" cy="1005840"/>
          </a:xfrm>
          <a:prstGeom prst="rect">
            <a:avLst/>
          </a:prstGeom>
          <a:solidFill>
            <a:srgbClr val="002A1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2402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No-Code GUI 원클릭 자동화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2286000" cy="1005840"/>
          </a:xfrm>
          <a:prstGeom prst="rect">
            <a:avLst/>
          </a:prstGeom>
          <a:solidFill>
            <a:srgbClr val="1A0A2A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6118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클라우드 데이터 유출 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749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474720"/>
            <a:ext cx="2468880" cy="1005840"/>
          </a:xfrm>
          <a:prstGeom prst="rect">
            <a:avLst/>
          </a:prstGeom>
          <a:solidFill>
            <a:srgbClr val="002A1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6118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온프레미스 망분리 독립 설치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2286000" cy="1005840"/>
          </a:xfrm>
          <a:prstGeom prst="rect">
            <a:avLst/>
          </a:prstGeom>
          <a:solidFill>
            <a:srgbClr val="1A0A2A"/>
          </a:solidFill>
          <a:ln w="1270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834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고가 GPU 비용 부담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4846320"/>
            <a:ext cx="2468880" cy="1005840"/>
          </a:xfrm>
          <a:prstGeom prst="rect">
            <a:avLst/>
          </a:prstGeom>
          <a:solidFill>
            <a:srgbClr val="002A1A"/>
          </a:solidFill>
          <a:ln w="1270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4983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사내 PC 그리드 연산 1/10 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417320"/>
            <a:ext cx="5760720" cy="1554480"/>
          </a:xfrm>
          <a:prstGeom prst="rect">
            <a:avLst/>
          </a:prstGeom>
          <a:solidFill>
            <a:srgbClr val="122A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417320"/>
            <a:ext cx="64008" cy="15544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⚡ 원클릭 자동화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01168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AlphaFold·DiffDock·RFdiffusion
No-Code GUI로 즉시 실행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154680"/>
            <a:ext cx="5760720" cy="1554480"/>
          </a:xfrm>
          <a:prstGeom prst="rect">
            <a:avLst/>
          </a:prstGeom>
          <a:solidFill>
            <a:srgbClr val="122A44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154680"/>
            <a:ext cx="64008" cy="155448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291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FFF"/>
                </a:solidFill>
              </a:rPr>
              <a:t>🔒 온프레미스 망분리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7490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폐쇄망 독립 구동
기밀 데이터 유출 제로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892040"/>
            <a:ext cx="5760720" cy="1554480"/>
          </a:xfrm>
          <a:prstGeom prst="rect">
            <a:avLst/>
          </a:prstGeom>
          <a:solidFill>
            <a:srgbClr val="122A44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892040"/>
            <a:ext cx="64008" cy="155448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0292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A0"/>
                </a:solidFill>
              </a:rPr>
              <a:t>💡 PC 그리드 연산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4864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사내 유휴 PC 병렬 통합
GPU 비용 1/10 절감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03. 기술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글로벌 오픈소스 AI 엔진 래핑·자동화 파이프라인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3383280" cy="384048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33832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AlphaFold
(DeepMind)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단백질 3D 구조
자동 예측 → PDB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417320"/>
            <a:ext cx="3383280" cy="384048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417320"/>
            <a:ext cx="3383280" cy="64008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DiffDock
(MIT CSAIL)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약물 도킹 예측
배치 처리 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1417320"/>
            <a:ext cx="3383280" cy="384048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1417320"/>
            <a:ext cx="3383280" cy="6400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59" y="1554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19659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OpenFE / OpenMM
(Stanford)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269748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자유에너지 FEP 계산
분산 병렬 연산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394960"/>
            <a:ext cx="11338560" cy="1097280"/>
          </a:xfrm>
          <a:prstGeom prst="rect">
            <a:avLst/>
          </a:prstGeom>
          <a:solidFill>
            <a:srgbClr val="122A44"/>
          </a:solidFill>
          <a:ln w="19050">
            <a:solidFill>
              <a:srgbClr val="008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394960"/>
            <a:ext cx="64008" cy="10972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321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공통 유틸리티 | RDKit — 14종 분자 파일 자동 변환·필터링 · OS·GPU·CUDA 의존성 자동 해결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04. 차별화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경쟁사가 점유하지 못한 공백 시장 선점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8595360" cy="411480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구분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2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기존 CADD SW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4630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클라우드 SaaS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스트레이캣 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874519"/>
            <a:ext cx="8595360" cy="77724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965959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사용성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196595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CLI 복잡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96595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블랙박스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5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No-Code GUI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697479"/>
            <a:ext cx="8595360" cy="777240"/>
          </a:xfrm>
          <a:prstGeom prst="rect">
            <a:avLst/>
          </a:prstGeom>
          <a:solidFill>
            <a:srgbClr val="0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88919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보안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78891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클라우드 필수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78891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데이터 유출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1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망분리 온프레미스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520439"/>
            <a:ext cx="8595360" cy="777240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11879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20" y="36118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고가 라이선스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611879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종량제 고비용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611879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PC 그리드 1/10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526280"/>
            <a:ext cx="8595360" cy="64008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451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→  보안 × 편의 × 가격 3축 동시 충족 제품은 현재 없음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9720" y="1417320"/>
            <a:ext cx="2651760" cy="155448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22402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보안
유출 제로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3246120"/>
            <a:ext cx="2651760" cy="155448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3429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🖱️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0690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No-Code
즉시 실행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5074920"/>
            <a:ext cx="2651760" cy="155448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64040" y="52578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589788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비용
1/10 절감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05. 목표시장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TAM 41.5조 → SAM 4.2조 → SOM 420억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554480"/>
            <a:ext cx="3474720" cy="329184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7200" y="1883664"/>
            <a:ext cx="34747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F1E"/>
                </a:solidFill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06624"/>
            <a:ext cx="347472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50F1E"/>
                </a:solidFill>
              </a:rPr>
              <a:t>41.5조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057400"/>
            <a:ext cx="2377440" cy="228600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5840" y="228600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F1E"/>
                </a:solidFill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57500"/>
            <a:ext cx="2377440" cy="800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F1E"/>
                </a:solidFill>
              </a:rPr>
              <a:t>4.2조</a:t>
            </a:r>
          </a:p>
        </p:txBody>
      </p:sp>
      <p:sp>
        <p:nvSpPr>
          <p:cNvPr id="14" name="Oval 13"/>
          <p:cNvSpPr/>
          <p:nvPr/>
        </p:nvSpPr>
        <p:spPr>
          <a:xfrm>
            <a:off x="1508760" y="2514600"/>
            <a:ext cx="1371600" cy="137160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508760" y="2651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0F1E"/>
                </a:solidFill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994660"/>
            <a:ext cx="1371600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50F1E"/>
                </a:solidFill>
              </a:rPr>
              <a:t>420억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228600" cy="2286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TAM  41.5조  글로벌 AI 신약개발 시장 (2030)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06440"/>
            <a:ext cx="228600" cy="2286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150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SAM  4.2조  아시아 중소제약사·연구소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309360"/>
            <a:ext cx="228600" cy="228600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217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SOM  420억  국내 초기침투 목표 (2028)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핵심 타겟 고객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1920240"/>
            <a:ext cx="5669280" cy="19202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1920240"/>
            <a:ext cx="5669280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057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B2B (핵심)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4688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국내외 중소·중견 제약사
국공립 바이오 연구실
온프레미스 설치형 수요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206240"/>
            <a:ext cx="5669280" cy="19202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206240"/>
            <a:ext cx="5669280" cy="64008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343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E5A0"/>
                </a:solidFill>
              </a:rPr>
              <a:t>B2C (확장)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754880"/>
            <a:ext cx="5303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논문·기초연구 대학원생
포닥·개인 연구자
브라우저 즉시 실행 수요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6400800"/>
            <a:ext cx="5669280" cy="365760"/>
          </a:xfrm>
          <a:prstGeom prst="rect">
            <a:avLst/>
          </a:prstGeom>
          <a:solidFill>
            <a:srgbClr val="122A44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64465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📈  CAGR 29.4% (2024~2030)  |  국내 AI R&amp;D 투자 전년比 42% 증가 (2025)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06. 사업화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3단계 로드맵 — 락인 → 유료화 → 확장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40"/>
            <a:ext cx="11338560" cy="45720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566160" cy="16916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35661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1단계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'26 하반기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무료 베타
레퍼런스 확보</a:t>
            </a:r>
          </a:p>
        </p:txBody>
      </p:sp>
      <p:sp>
        <p:nvSpPr>
          <p:cNvPr id="14" name="Oval 13"/>
          <p:cNvSpPr/>
          <p:nvPr/>
        </p:nvSpPr>
        <p:spPr>
          <a:xfrm>
            <a:off x="2103120" y="3154680"/>
            <a:ext cx="274320" cy="27432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66160"/>
            <a:ext cx="3566160" cy="2560320"/>
          </a:xfrm>
          <a:prstGeom prst="rect">
            <a:avLst/>
          </a:prstGeom>
          <a:solidFill>
            <a:srgbClr val="122A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B2C SaaS 무료 배포
약대·연구실 5곳+ 도입
사용 데이터 수집·UX 개선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417320"/>
            <a:ext cx="3566160" cy="169164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417320"/>
            <a:ext cx="356616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2단계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'27 상반기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920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SaaS 유료화
+ B2B PoC</a:t>
            </a:r>
          </a:p>
        </p:txBody>
      </p:sp>
      <p:sp>
        <p:nvSpPr>
          <p:cNvPr id="22" name="Oval 21"/>
          <p:cNvSpPr/>
          <p:nvPr/>
        </p:nvSpPr>
        <p:spPr>
          <a:xfrm>
            <a:off x="5989320" y="3154680"/>
            <a:ext cx="274320" cy="27432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566160"/>
            <a:ext cx="3566160" cy="2560320"/>
          </a:xfrm>
          <a:prstGeom prst="rect">
            <a:avLst/>
          </a:prstGeom>
          <a:solidFill>
            <a:srgbClr val="122A44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B2C 월 구독 전환
B2B 온프레미스 PoC 3사
비용 절감 효과 실증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417320"/>
            <a:ext cx="3566160" cy="16916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1417320"/>
            <a:ext cx="356616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1554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3단계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554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'27 하반기~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1920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B2B 본계약
아시아 확장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0" y="3154680"/>
            <a:ext cx="274320" cy="27432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3566160"/>
            <a:ext cx="3566160" cy="2560320"/>
          </a:xfrm>
          <a:prstGeom prst="rect">
            <a:avLst/>
          </a:prstGeom>
          <a:solidFill>
            <a:srgbClr val="122A44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703320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중소 제약사 연간 계약
1,500~2,000만 원/건
아시아 SaaS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07. 수익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3대 수익원 — SaaS × 종량제 × Enterprise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657600" cy="502920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365760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508760"/>
            <a:ext cx="1005840" cy="34747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5270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F1E"/>
                </a:solidFill>
              </a:rPr>
              <a:t>진입 채널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B2C SaaS 구독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월/연 정기 결제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17520"/>
            <a:ext cx="338328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개인 연구자·대학원생
• 브라우저 즉시 실행
• 초저가 정기 결제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417320"/>
            <a:ext cx="3657600" cy="502920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417320"/>
            <a:ext cx="3657600" cy="54864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1508760"/>
            <a:ext cx="1005840" cy="347472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5270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F1E"/>
                </a:solidFill>
              </a:rPr>
              <a:t>수익 증폭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Core GPU 종량제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2FFF"/>
                </a:solidFill>
              </a:rPr>
              <a:t>Pay-As-You-Go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017520"/>
            <a:ext cx="338328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108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고용량 시뮬레이션 수행
• H100 GPU 스팟 대여
• 사용량 비례 과금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417320"/>
            <a:ext cx="3657600" cy="502920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417320"/>
            <a:ext cx="365760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789920" y="1508760"/>
            <a:ext cx="1005840" cy="347472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35640" y="1527048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50F1E"/>
                </a:solidFill>
              </a:rPr>
              <a:t>핵심 수익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B2B 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6517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A0"/>
                </a:solidFill>
              </a:rPr>
              <a:t>온프레미스 설치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3017520"/>
            <a:ext cx="338328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310896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• 중견 제약사 대상
• 설치비 1,500~2,000만/건
• 연간 업데이트 라이선스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08. 성과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2026년 11월 30일까지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45720" cy="4572000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6072" y="1645920"/>
            <a:ext cx="320040" cy="320040"/>
          </a:xfrm>
          <a:prstGeom prst="ellipse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600200"/>
            <a:ext cx="4937760" cy="914400"/>
          </a:xfrm>
          <a:prstGeom prst="rect">
            <a:avLst/>
          </a:prstGeom>
          <a:solidFill>
            <a:srgbClr val="0A1F35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E5A0"/>
                </a:solidFill>
              </a:rPr>
              <a:t>'26.03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691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3종 AI 엔진 오프라인 패키징 완료</a:t>
            </a:r>
          </a:p>
        </p:txBody>
      </p:sp>
      <p:sp>
        <p:nvSpPr>
          <p:cNvPr id="13" name="Oval 12"/>
          <p:cNvSpPr/>
          <p:nvPr/>
        </p:nvSpPr>
        <p:spPr>
          <a:xfrm>
            <a:off x="576072" y="2788920"/>
            <a:ext cx="320040" cy="32004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2743200"/>
            <a:ext cx="4937760" cy="91440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2834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'26.06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34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No-Code 웹 대시보드 (React) 베타 배포</a:t>
            </a:r>
          </a:p>
        </p:txBody>
      </p:sp>
      <p:sp>
        <p:nvSpPr>
          <p:cNvPr id="17" name="Oval 16"/>
          <p:cNvSpPr/>
          <p:nvPr/>
        </p:nvSpPr>
        <p:spPr>
          <a:xfrm>
            <a:off x="576072" y="3931920"/>
            <a:ext cx="320040" cy="320040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886200"/>
            <a:ext cx="4937760" cy="91440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77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8FF"/>
                </a:solidFill>
              </a:rPr>
              <a:t>'26.09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3977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Docker 원클릭 자동 셋업 완성</a:t>
            </a:r>
          </a:p>
        </p:txBody>
      </p:sp>
      <p:sp>
        <p:nvSpPr>
          <p:cNvPr id="21" name="Oval 20"/>
          <p:cNvSpPr/>
          <p:nvPr/>
        </p:nvSpPr>
        <p:spPr>
          <a:xfrm>
            <a:off x="576072" y="5074920"/>
            <a:ext cx="320040" cy="32004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5840" y="5029200"/>
            <a:ext cx="4937760" cy="91440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12064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2FFF"/>
                </a:solidFill>
              </a:rPr>
              <a:t>'26.11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2064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B2C SaaS 얼리액세스 오픈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4173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</a:rPr>
              <a:t>KPI 목표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920240"/>
            <a:ext cx="5394960" cy="1371600"/>
          </a:xfrm>
          <a:prstGeom prst="rect">
            <a:avLst/>
          </a:prstGeom>
          <a:solidFill>
            <a:srgbClr val="122A44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103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매출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</a:rPr>
              <a:t>1억 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377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2026.11.30까지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74720"/>
            <a:ext cx="5394960" cy="1371600"/>
          </a:xfrm>
          <a:prstGeom prst="rect">
            <a:avLst/>
          </a:prstGeom>
          <a:solidFill>
            <a:srgbClr val="122A44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6576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611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신규 고용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977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E5A0"/>
                </a:solidFill>
              </a:rPr>
              <a:t>1명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3931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단백질·펩타이드 연구원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029200"/>
            <a:ext cx="5394960" cy="1371600"/>
          </a:xfrm>
          <a:prstGeom prst="rect">
            <a:avLst/>
          </a:prstGeom>
          <a:solidFill>
            <a:srgbClr val="122A44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52120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5166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얼리액세스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B2FFF"/>
                </a:solidFill>
              </a:rPr>
              <a:t>5곳+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54864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0C4DE"/>
                </a:solidFill>
              </a:rPr>
              <a:t>약대·바이오 연구실 도입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09/10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09. 팀 &amp;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핵심 기술을 직접 보유한 창업자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675120" cy="51206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667512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6309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👤  정호준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대표 | SW 5년+ | 개발팀장 출신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68880"/>
            <a:ext cx="640080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06040"/>
            <a:ext cx="411480" cy="41148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6243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60604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AI MLOps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7180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AlphaFold·RDKit·AutoDock 실제 R&amp;D 파이프라인 통합 운용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411480" cy="41148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9044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8620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핵심기술 내재화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5196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Auto-Setup Engine·Pipeline·Grid Orchestrator 직접 설계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166360"/>
            <a:ext cx="411480" cy="41148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5184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강의·컨설팅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532120"/>
            <a:ext cx="5760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기업 대상 시스템 구조 강의 → B2B 기술 온보딩 직접 수행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1417320"/>
            <a:ext cx="4663440" cy="2743200"/>
          </a:xfrm>
          <a:prstGeom prst="rect">
            <a:avLst/>
          </a:prstGeom>
          <a:solidFill>
            <a:srgbClr val="122A44"/>
          </a:solidFill>
          <a:ln w="19050">
            <a:solidFill>
              <a:srgbClr val="00E5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1417320"/>
            <a:ext cx="4663440" cy="54864"/>
          </a:xfrm>
          <a:prstGeom prst="rect">
            <a:avLst/>
          </a:prstGeom>
          <a:solidFill>
            <a:srgbClr val="00E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20" y="155448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5A0"/>
                </a:solidFill>
              </a:rPr>
              <a:t>📋  채용 계획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01168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단백질 구조·펩타이드 디자인 연구원 1명
목표: 2026년 7월까지 채용 완료
역할: 핵심 모듈 R&amp;D·검증·고객 기술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4297680"/>
            <a:ext cx="4663440" cy="2194560"/>
          </a:xfrm>
          <a:prstGeom prst="rect">
            <a:avLst/>
          </a:prstGeom>
          <a:solidFill>
            <a:srgbClr val="0A1F35"/>
          </a:solidFill>
          <a:ln w="19050">
            <a:solidFill>
              <a:srgbClr val="7B2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60920" y="443484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2FFF"/>
                </a:solidFill>
              </a:rPr>
              <a:t>⏱  전 사업기간 풀타임 투입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89204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핵심 엔진 개발 전 과정 대표자 직접 수행
외주 의존 없이 기술 내재화 완성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064240" y="0"/>
            <a:ext cx="1124712" cy="548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64240" y="45720"/>
            <a:ext cx="11247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50F1E"/>
                </a:solidFill>
              </a:rPr>
              <a:t>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9728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8FF"/>
                </a:solidFill>
              </a:rPr>
              <a:t>10. 투자 요청 &amp; 마무리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1152144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868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AI 신약 기술의 민주화 — 스트레이캣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6858000" cy="5120640"/>
          </a:xfrm>
          <a:prstGeom prst="rect">
            <a:avLst/>
          </a:prstGeom>
          <a:solidFill>
            <a:srgbClr val="0A1F35"/>
          </a:solidFill>
          <a:ln w="19050">
            <a:solidFill>
              <a:srgbClr val="008B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사업비 집행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6583680" cy="27432"/>
          </a:xfrm>
          <a:prstGeom prst="rect">
            <a:avLst/>
          </a:prstGeom>
          <a:solidFill>
            <a:srgbClr val="008B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48840"/>
            <a:ext cx="6583680" cy="530352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219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특허 출원 (AI 파이프라인 자동화)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22199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8FF"/>
                </a:solidFill>
              </a:rPr>
              <a:t>350만 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715768"/>
            <a:ext cx="6583680" cy="530352"/>
          </a:xfrm>
          <a:prstGeom prst="rect">
            <a:avLst/>
          </a:prstGeom>
          <a:solidFill>
            <a:srgbClr val="0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UI/UX 와이어프레임·디자인 외주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788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B2FFF"/>
                </a:solidFill>
              </a:rPr>
              <a:t>450만 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82696"/>
            <a:ext cx="6583680" cy="530352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3558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웹 프론트엔드 개발 (React)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35584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C8FF"/>
                </a:solidFill>
              </a:rPr>
              <a:t>650만 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9624"/>
            <a:ext cx="6583680" cy="530352"/>
          </a:xfrm>
          <a:prstGeom prst="rect">
            <a:avLst/>
          </a:prstGeom>
          <a:solidFill>
            <a:srgbClr val="0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92277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반응형 QA + 사용성 테스트(UT)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9227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7B2FFF"/>
                </a:solidFill>
              </a:rPr>
              <a:t>250만 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416552"/>
            <a:ext cx="6583680" cy="530352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897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홈페이지 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4489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0C4DE"/>
                </a:solidFill>
              </a:rPr>
              <a:t>150만 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83480"/>
            <a:ext cx="6583680" cy="530352"/>
          </a:xfrm>
          <a:prstGeom prst="rect">
            <a:avLst/>
          </a:prstGeom>
          <a:solidFill>
            <a:srgbClr val="0A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566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홍보 영상 제작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5056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0C4DE"/>
                </a:solidFill>
              </a:rPr>
              <a:t>100만 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550408"/>
            <a:ext cx="6583680" cy="530352"/>
          </a:xfrm>
          <a:prstGeom prst="rect">
            <a:avLst/>
          </a:prstGeom>
          <a:solidFill>
            <a:srgbClr val="12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23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디지털 마케팅 (LinkedIn)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5623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0C4DE"/>
                </a:solidFill>
              </a:rPr>
              <a:t>50만 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06640" y="1417320"/>
            <a:ext cx="4389120" cy="5120640"/>
          </a:xfrm>
          <a:prstGeom prst="rect">
            <a:avLst/>
          </a:prstGeom>
          <a:solidFill>
            <a:srgbClr val="02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1417320"/>
            <a:ext cx="54864" cy="51206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0" y="20116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00C8FF"/>
                </a:solidFill>
              </a:rPr>
              <a:t>"AI 신약 기술의 민주화"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743200"/>
            <a:ext cx="4023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글로벌 AI를
누구나 클릭 한 번으로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3920" y="3749039"/>
            <a:ext cx="219456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38862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0C4DE"/>
                </a:solidFill>
              </a:rPr>
              <a:t>스트레이캣이 만들겠습니다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06640" y="5394960"/>
            <a:ext cx="4389120" cy="1051560"/>
          </a:xfrm>
          <a:prstGeom prst="rect">
            <a:avLst/>
          </a:prstGeom>
          <a:solidFill>
            <a:srgbClr val="122A44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0" y="54864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🙏  감사합니다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5943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대표 정호준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